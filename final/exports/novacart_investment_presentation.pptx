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7216d078ca45cb" /><Relationship Type="http://schemas.openxmlformats.org/officeDocument/2006/relationships/extended-properties" Target="/docProps/app.xml" Id="R1758091766914ebd" /><Relationship Type="http://schemas.openxmlformats.org/officeDocument/2006/relationships/officeDocument" Target="/ppt/presentation.xml" Id="R7b0875dc3d4e43b4" /></Relationships>
</file>

<file path=ppt/presentation.xml><?xml version="1.0" encoding="utf-8"?>
<p:presentation xmlns:p="http://schemas.openxmlformats.org/presentationml/2006/main">
  <p:sldMasterIdLst>
    <p:sldMasterId xmlns:r="http://schemas.openxmlformats.org/officeDocument/2006/relationships" id="2147483648" r:id="Rf74258133fd44761"/>
  </p:sldMasterIdLst>
  <p:notesMasterIdLst>
    <p:notesMasterId xmlns:r="http://schemas.openxmlformats.org/officeDocument/2006/relationships" r:id="R305c98fbe95a4b35"/>
  </p:notesMasterIdLst>
  <p:sldIdLst>
    <p:sldId xmlns:r="http://schemas.openxmlformats.org/officeDocument/2006/relationships" id="256" r:id="R764a134dea7c4ded"/>
    <p:sldId xmlns:r="http://schemas.openxmlformats.org/officeDocument/2006/relationships" id="257" r:id="Ra042970bf8684b21"/>
    <p:sldId xmlns:r="http://schemas.openxmlformats.org/officeDocument/2006/relationships" id="258" r:id="Rfc392e39dea14ca6"/>
    <p:sldId xmlns:r="http://schemas.openxmlformats.org/officeDocument/2006/relationships" id="259" r:id="Rd17efe40c2de4644"/>
    <p:sldId xmlns:r="http://schemas.openxmlformats.org/officeDocument/2006/relationships" id="260" r:id="Re4f9ca264075487e"/>
    <p:sldId xmlns:r="http://schemas.openxmlformats.org/officeDocument/2006/relationships" id="261" r:id="R8188555043094b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db7632b7b54e89" /><Relationship Type="http://schemas.openxmlformats.org/officeDocument/2006/relationships/slideMaster" Target="/ppt/slideMasters/slideMaster1.xml" Id="Rf74258133fd44761" /><Relationship Type="http://schemas.openxmlformats.org/officeDocument/2006/relationships/notesMaster" Target="/ppt/notesMasters/notesMaster1.xml" Id="R305c98fbe95a4b35" /><Relationship Type="http://schemas.openxmlformats.org/officeDocument/2006/relationships/presProps" Target="/ppt/presProps.xml" Id="R4a180a2f4f834f42" /><Relationship Type="http://schemas.openxmlformats.org/officeDocument/2006/relationships/tableStyles" Target="/ppt/tableStyles.xml" Id="R85f21960cb574304" /><Relationship Type="http://schemas.openxmlformats.org/officeDocument/2006/relationships/slide" Target="/ppt/slides/slide1.xml" Id="R764a134dea7c4ded" /><Relationship Type="http://schemas.openxmlformats.org/officeDocument/2006/relationships/slide" Target="/ppt/slides/slide2.xml" Id="Ra042970bf8684b21" /><Relationship Type="http://schemas.openxmlformats.org/officeDocument/2006/relationships/slide" Target="/ppt/slides/slide3.xml" Id="Rfc392e39dea14ca6" /><Relationship Type="http://schemas.openxmlformats.org/officeDocument/2006/relationships/slide" Target="/ppt/slides/slide4.xml" Id="Rd17efe40c2de4644" /><Relationship Type="http://schemas.openxmlformats.org/officeDocument/2006/relationships/slide" Target="/ppt/slides/slide5.xml" Id="Re4f9ca264075487e" /><Relationship Type="http://schemas.openxmlformats.org/officeDocument/2006/relationships/slide" Target="/ppt/slides/slide6.xml" Id="R818855504309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cc7af4966f4b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NovaCart Review">
      <a:dk1>
        <a:srgbClr val="000000"/>
      </a:dk1>
      <a:lt1>
        <a:srgbClr val="FFFFFF"/>
      </a:lt1>
      <a:dk2>
        <a:srgbClr val="15334A"/>
      </a:dk2>
      <a:lt2>
        <a:srgbClr val="D6DEE3"/>
      </a:lt2>
      <a:accent1>
        <a:srgbClr val="157A72"/>
      </a:accent1>
      <a:accent2>
        <a:srgbClr val="15334A"/>
      </a:accent2>
      <a:accent3>
        <a:srgbClr val="B7533E"/>
      </a:accent3>
      <a:accent4>
        <a:srgbClr val="778A97"/>
      </a:accent4>
      <a:accent5>
        <a:srgbClr val="AEC3C9"/>
      </a:accent5>
      <a:accent6>
        <a:srgbClr val="6F9E91"/>
      </a:accent6>
      <a:hlink>
        <a:srgbClr val="157A72"/>
      </a:hlink>
      <a:folHlink>
        <a:srgbClr val="15334A"/>
      </a:folHlink>
    </a:clrScheme>
    <a:fontScheme name="">
      <a:majorFont>
        <a:latin typeface="Arial"/>
        <a:ea typeface=""/>
        <a:cs typeface=""/>
      </a:majorFont>
      <a:minorFont>
        <a:latin typeface="Arial"/>
        <a:ea typeface=""/>
        <a:cs typeface=""/>
      </a:minorFont>
    </a:fontScheme>
    <a:fmtScheme name="NovaCart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bc3da7c8b34b68" /><Relationship Type="http://schemas.openxmlformats.org/officeDocument/2006/relationships/notesMaster" Target="/ppt/notesMasters/notesMaster1.xml" Id="R4267d0075ffc44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4c32433bfb47d3" /><Relationship Type="http://schemas.openxmlformats.org/officeDocument/2006/relationships/notesMaster" Target="/ppt/notesMasters/notesMaster1.xml" Id="Reaf13c5b9fc44d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ca485e5e314452" /><Relationship Type="http://schemas.openxmlformats.org/officeDocument/2006/relationships/notesMaster" Target="/ppt/notesMasters/notesMaster1.xml" Id="R9f36ffff67d644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44e2a8c95e4d45" /><Relationship Type="http://schemas.openxmlformats.org/officeDocument/2006/relationships/notesMaster" Target="/ppt/notesMasters/notesMaster1.xml" Id="R01a2a385126d4c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13928f64914064" /><Relationship Type="http://schemas.openxmlformats.org/officeDocument/2006/relationships/notesMaster" Target="/ppt/notesMasters/notesMaster1.xml" Id="R3364ab0e228e4b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20e8b7ab4c4f53" /><Relationship Type="http://schemas.openxmlformats.org/officeDocument/2006/relationships/notesMaster" Target="/ppt/notesMasters/notesMaster1.xml" Id="R48cc761d3b084c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pass on the current $500,000 request as presented. The 2025 revenue, loss and cash forecast use the supplied claims, invoice and bank records. The base cash case excludes new financing and removes a $40,000 collection of a 2025 invoice from recurring receipts.</a:t>
            </a:r>
          </a:p>
          <a:p xmlns:a="http://schemas.openxmlformats.org/drawingml/2006/main">
            <a:r>
              <a:t>Sources: inputs/claims.md; inputs/invoices.csv; inputs/bank.csv; roles/04_investment_manager/forecast.md.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2025 claim of $1.2 million is not supported by the cash-basis records. Invoice rows total $1.0 million. Remove three repeated invoice copies totaling $325,000, $85,000 of open Bright Foods invoices, and $40,000 collected in March 2026 for a December 2025 invoice. Gross 2025 customer receipts are $550,000. Subtract $30,000 of refunds to reach $520,000 net revenue. The stated growth pair mathematically implies 300%; supported cash-basis revenue after refunds rises from $300,000 to $520,000, or 73.3%.</a:t>
            </a:r>
          </a:p>
          <a:p xmlns:a="http://schemas.openxmlformats.org/drawingml/2006/main">
            <a:r>
              <a:t>Sources: inputs/claims.md; inputs/invoices.csv; inputs/bank.csv; roles/02_financial_analyst/profit.md.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row-level accounting reconciliation matched all 1,700 paid receipt IDs and amounts to customer receipts in the bank, totaling $896,000 across the complete period. There are no bank receipt lines without an invoice match and no matched amount differences. The three duplicate invoice copies explain the previously apparent $325,000 paid-status-to-bank difference. Three Bright Foods invoices remain open, totaling $85,000. Riverside invoice NC-2025-1103 for $40,000 was paid on March 3, 2026, 62 days after its December 31, 2025 date.</a:t>
            </a:r>
          </a:p>
          <a:p xmlns:a="http://schemas.openxmlformats.org/drawingml/2006/main">
            <a:r>
              <a:t>Sources: inputs/invoices.csv; inputs/bank.csv; roles/01_accountant/matching.md.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 cash basis after refunds, revenue rose from $300,000 in 2024 to $520,000 in 2025, up 73.3%. Operating costs rose from $330,000 to $610,000, up 84.8%. The annual loss widened by $60,000 to $90,000. Q1 and Q2 were positive, but Q3 was negative by $1,387 and Q4 by $126,295. This does not support the claim that NovaCart has been profitable since Q3 2025.</a:t>
            </a:r>
          </a:p>
          <a:p xmlns:a="http://schemas.openxmlformats.org/drawingml/2006/main">
            <a:r>
              <a:t>Sources: inputs/bank.csv; inputs/claims.md; roles/02_financial_analyst/profit.md.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reference case starts at $170,000 on March 31, 2026 and repeats April 2025-March 2026 cash activity, removing the $40,000 payment of a 2025 invoice from recurring receipts. It forecasts $21,083 ending cash. Sensitivities are: repeat recent activity including that receipt, $61,083; repeat 2025 calendar-year pace, $80,000; repeat the sparse Q1 2026 pattern, $50,000. All cases exclude the requested $500,000, assume no new growth or funding, and retain recorded cost patterns. Q1 2026 only includes $10,000 monthly warehouse/administration payments, so its sensitivity is not an all-in cost forecast.</a:t>
            </a:r>
          </a:p>
          <a:p xmlns:a="http://schemas.openxmlformats.org/drawingml/2006/main">
            <a:r>
              <a:t>Sources: inputs/bank.csv; roles/04_investment_manager/forecast.md.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pass on the current $500,000 request as presented. Reconsider after corrected reporting, a monthly investment plan with a credible break-even path, documented financing terms, and customer evidence.</a:t>
            </a:r>
          </a:p>
          <a:p xmlns:a="http://schemas.openxmlformats.org/drawingml/2006/main">
            <a:r>
              <a:t/>
            </a:r>
          </a:p>
          <a:p xmlns:a="http://schemas.openxmlformats.org/drawingml/2006/main">
            <a:r>
              <a:t>Customer analysis defines an annual account as a distinct customer name with at least one invoice dated in the calendar year. It finds 1,100 named accounts in 2025 (1,095 household and five business). The export ends in December 2025, so it cannot verify management's 4,000 active-customer claim at the April 2026 pitch date. All 600 accounts invoiced in 2024 also invoiced in 2025; 500 names first appeared in 2025. This is annual invoice retention, not evidence of frequent ordering or current engagement.</a:t>
            </a:r>
          </a:p>
          <a:p xmlns:a="http://schemas.openxmlformats.org/drawingml/2006/main">
            <a:r>
              <a:t/>
            </a:r>
          </a:p>
          <a:p xmlns:a="http://schemas.openxmlformats.org/drawingml/2006/main">
            <a:r>
              <a:t>Five business accounts generated $450,113, or 66.68% of adjusted 2025 invoice value. The top three generated $325,000, or 48.15%. These percentages describe invoiced billings, not cash collections. Household accounts rose from 597 to 1,095 (83.4%), while household invoiced value fell from $304,534 to $224,887 (26.15%). Mean household invoice value fell 59.74%. No household account had more than one invoice in either year; only Riverside and Bright Foods had multiple distinct 2025 invoices after duplicate removal. Bright Foods' $85,000 remains open. The records do not show delivery frequency, reasons for lower household billings, customer acquisition cost, or lifetime value.</a:t>
            </a:r>
          </a:p>
          <a:p xmlns:a="http://schemas.openxmlformats.org/drawingml/2006/main">
            <a:r>
              <a:t/>
            </a:r>
          </a:p>
          <a:p xmlns:a="http://schemas.openxmlformats.org/drawingml/2006/main">
            <a:r>
              <a:t>The $1.2 million 2025 revenue claim equals the $1.0 million raw invoice export plus $200,000 of loan and personal-transfer funding. This numerical relationship warrants an explanation; the supplied records do not establish intent. No fraud finding is made.</a:t>
            </a:r>
          </a:p>
          <a:p xmlns:a="http://schemas.openxmlformats.org/drawingml/2006/main">
            <a:r>
              <a:t/>
            </a:r>
          </a:p>
          <a:p xmlns:a="http://schemas.openxmlformats.org/drawingml/2006/main">
            <a:r>
              <a:t>Sources: inputs/claims.md; inputs/invoices.csv; inputs/bank.csv; roles/01_accountant/matching.md; roles/02_financial_analyst/profit.md; roles/03_fraud_auditor/red_flags.md; roles/04_investment_manager/forecast.md; roles/05_customer_analyst/customers.md.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b3b988b3c47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eb7f6e9ffc44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a5f71a654f45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c88adef7b642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d7075e4f054e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2682b8b1c243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EB54A1-856B-4A0E-9C25-886C4E40E7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7E5363-8F37-44DA-A847-D138E47561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F1031E-DB0B-43C2-87E2-F934460E6A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7967C0-AC64-4AC2-BFB9-F0CE1769E2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EE71F7-649E-4FB5-92D4-074287273E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509438-1057-4D96-97F3-7FCF7EEFD8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0093E1-DCE9-463B-BF96-8AAE6A0FC4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6CE314-B8DA-448C-89D1-2745964843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81272E-DFA7-4EF5-B485-EF546504D5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D77FE2-A5C2-479B-BACA-D62A62020D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ce615157d84369" /><Relationship Type="http://schemas.openxmlformats.org/officeDocument/2006/relationships/slideLayout" Target="/ppt/slideLayouts/slideLayout1.xml" Id="Rf51c363b22fd4198" /><Relationship Type="http://schemas.openxmlformats.org/officeDocument/2006/relationships/slideLayout" Target="/ppt/slideLayouts/slideLayout2.xml" Id="Rebc688ecfdae47cb" /><Relationship Type="http://schemas.openxmlformats.org/officeDocument/2006/relationships/slideLayout" Target="/ppt/slideLayouts/slideLayout3.xml" Id="Rc8c6aa98bc084ea8" /><Relationship Type="http://schemas.openxmlformats.org/officeDocument/2006/relationships/slideLayout" Target="/ppt/slideLayouts/slideLayout4.xml" Id="Rc5bad2ef6ea94e32" /><Relationship Type="http://schemas.openxmlformats.org/officeDocument/2006/relationships/slideLayout" Target="/ppt/slideLayouts/slideLayout5.xml" Id="R6df0be22552c4052" /><Relationship Type="http://schemas.openxmlformats.org/officeDocument/2006/relationships/slideLayout" Target="/ppt/slideLayouts/slideLayout6.xml" Id="R60d64d5dd3ad43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1c363b22fd4198"/>
    <p:sldLayoutId xmlns:r="http://schemas.openxmlformats.org/officeDocument/2006/relationships" id="2147483650" r:id="Rebc688ecfdae47cb"/>
    <p:sldLayoutId xmlns:r="http://schemas.openxmlformats.org/officeDocument/2006/relationships" id="2147483651" r:id="Rc8c6aa98bc084ea8"/>
    <p:sldLayoutId xmlns:r="http://schemas.openxmlformats.org/officeDocument/2006/relationships" id="2147483652" r:id="Rc5bad2ef6ea94e32"/>
    <p:sldLayoutId xmlns:r="http://schemas.openxmlformats.org/officeDocument/2006/relationships" id="2147483653" r:id="R6df0be22552c4052"/>
    <p:sldLayoutId xmlns:r="http://schemas.openxmlformats.org/officeDocument/2006/relationships" id="2147483654" r:id="R60d64d5dd3ad43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NovaCart Review">
      <a:dk1>
        <a:srgbClr val="000000"/>
      </a:dk1>
      <a:lt1>
        <a:srgbClr val="FFFFFF"/>
      </a:lt1>
      <a:dk2>
        <a:srgbClr val="15334A"/>
      </a:dk2>
      <a:lt2>
        <a:srgbClr val="D6DEE3"/>
      </a:lt2>
      <a:accent1>
        <a:srgbClr val="157A72"/>
      </a:accent1>
      <a:accent2>
        <a:srgbClr val="15334A"/>
      </a:accent2>
      <a:accent3>
        <a:srgbClr val="B7533E"/>
      </a:accent3>
      <a:accent4>
        <a:srgbClr val="778A97"/>
      </a:accent4>
      <a:accent5>
        <a:srgbClr val="AEC3C9"/>
      </a:accent5>
      <a:accent6>
        <a:srgbClr val="6F9E91"/>
      </a:accent6>
      <a:hlink>
        <a:srgbClr val="157A72"/>
      </a:hlink>
      <a:folHlink>
        <a:srgbClr val="15334A"/>
      </a:folHlink>
    </a:clrScheme>
    <a:fontScheme name="">
      <a:majorFont>
        <a:latin typeface="Arial"/>
        <a:ea typeface=""/>
        <a:cs typeface=""/>
      </a:majorFont>
      <a:minorFont>
        <a:latin typeface="Arial"/>
        <a:ea typeface=""/>
        <a:cs typeface=""/>
      </a:minorFont>
    </a:fontScheme>
    <a:fmtScheme name="NovaCart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b26822acdb45d2" /><Relationship Type="http://schemas.openxmlformats.org/officeDocument/2006/relationships/notesSlide" Target="/ppt/notesSlides/notesSlide1.xml" Id="R34d2ea353ae845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7e114ac416417a" /><Relationship Type="http://schemas.openxmlformats.org/officeDocument/2006/relationships/notesSlide" Target="/ppt/notesSlides/notesSlide2.xml" Id="R2ab6f4532f2240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4be5b754f94a3e" /><Relationship Type="http://schemas.openxmlformats.org/officeDocument/2006/relationships/notesSlide" Target="/ppt/notesSlides/notesSlide3.xml" Id="R43f83e43a7d342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e96763ea5d4f64" /><Relationship Type="http://schemas.openxmlformats.org/officeDocument/2006/relationships/chart" Target="/ppt/slides/charts/chart1.xml" Id="R3584230f11694224" /><Relationship Type="http://schemas.openxmlformats.org/officeDocument/2006/relationships/notesSlide" Target="/ppt/notesSlides/notesSlide4.xml" Id="Rb14e3f6f88884f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1bf687924143a3" /><Relationship Type="http://schemas.openxmlformats.org/officeDocument/2006/relationships/chart" Target="/ppt/slides/charts/chart2.xml" Id="R1c290ad4fc4e4e62" /><Relationship Type="http://schemas.openxmlformats.org/officeDocument/2006/relationships/notesSlide" Target="/ppt/notesSlides/notesSlide5.xml" Id="Rbce65e0532d849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9dd663fdfd4172" /><Relationship Type="http://schemas.openxmlformats.org/officeDocument/2006/relationships/notesSlide" Target="/ppt/notesSlides/notesSlide6.xml" Id="Rd8c8c962400442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Net revenue</c:v>
          </c:tx>
          <c:spPr>
            <a:solidFill xmlns:a="http://schemas.openxmlformats.org/drawingml/2006/main">
              <a:srgbClr val="157A72"/>
            </a:solidFill>
          </c:spPr>
          <c:invertIfNegative val="0"/>
          <c:cat>
            <c:numRef>
              <c:f>'Chart Data'!$A$2:$A$3</c:f>
              <c:numCache>
                <c:formatCode>General</c:formatCode>
                <c:ptCount val="2"/>
                <c:pt idx="0">
                  <c:v>2024</c:v>
                </c:pt>
                <c:pt idx="1">
                  <c:v>2025</c:v>
                </c:pt>
              </c:numCache>
            </c:numRef>
          </c:cat>
          <c:val>
            <c:numRef>
              <c:f>'Chart Data'!$B$2:$B$3</c:f>
              <c:numCache>
                <c:formatCode>$0</c:formatCode>
                <c:ptCount val="2"/>
                <c:pt idx="0">
                  <c:v>300</c:v>
                </c:pt>
                <c:pt idx="1">
                  <c:v>520</c:v>
                </c:pt>
              </c:numCache>
            </c:numRef>
          </c:val>
        </c:ser>
        <c:ser>
          <c:idx val="1"/>
          <c:order val="1"/>
          <c:tx>
            <c:v>Operating costs</c:v>
          </c:tx>
          <c:spPr>
            <a:solidFill xmlns:a="http://schemas.openxmlformats.org/drawingml/2006/main">
              <a:srgbClr val="85939B"/>
            </a:solidFill>
          </c:spPr>
          <c:invertIfNegative val="0"/>
          <c:cat>
            <c:numRef>
              <c:f>'Chart Data'!$C$2:$C$3</c:f>
              <c:numCache>
                <c:formatCode>General</c:formatCode>
                <c:ptCount val="2"/>
                <c:pt idx="0">
                  <c:v>2024</c:v>
                </c:pt>
                <c:pt idx="1">
                  <c:v>2025</c:v>
                </c:pt>
              </c:numCache>
            </c:numRef>
          </c:cat>
          <c:val>
            <c:numRef>
              <c:f>'Chart Data'!$D$2:$D$3</c:f>
              <c:numCache>
                <c:formatCode>$0</c:formatCode>
                <c:ptCount val="2"/>
                <c:pt idx="0">
                  <c:v>330</c:v>
                </c:pt>
                <c:pt idx="1">
                  <c:v>610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b="1">
                  <a:solidFill>
                    <a:srgbClr val="243746"/>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E2"/>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3746"/>
                </a:solidFill>
              </a:defRPr>
            </a:pPr>
          </a:p>
        </c:txPr>
        <c:crossAx val="48672768"/>
      </c:catAx>
      <c:valAx>
        <c:axId val="48672768"/>
        <c:scaling>
          <c:orientation val="minMax"/>
          <c:max val="700"/>
          <c:min val="0"/>
        </c:scaling>
        <c:delete val="0"/>
        <c:axPos val="l"/>
        <c:majorGridlines>
          <c:spPr>
            <a:ln xmlns:a="http://schemas.openxmlformats.org/drawingml/2006/main" w="9525">
              <a:solidFill>
                <a:srgbClr val="D5DDE2"/>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26676"/>
                    </a:solidFill>
                  </a:rPr>
                  <a:t>USD thousands</a:t>
                </a:r>
              </a:p>
            </c:rich>
          </c:tx>
          <c:overlay val="0"/>
          <c:txPr>
            <a:bodyPr xmlns:a="http://schemas.openxmlformats.org/drawingml/2006/main" anchorCtr="1"/>
            <a:lstStyle xmlns:a="http://schemas.openxmlformats.org/drawingml/2006/main"/>
            <a:p xmlns:a="http://schemas.openxmlformats.org/drawingml/2006/main">
              <a:pPr>
                <a:defRPr sz="1050">
                  <a:solidFill>
                    <a:srgbClr val="526676"/>
                  </a:solidFill>
                </a:defRPr>
              </a:pPr>
            </a:p>
          </c:txPr>
        </c:title>
        <c:numFmt formatCode="$0"/>
        <c:majorTickMark val="none"/>
        <c:minorTickMark val="none"/>
        <c:spPr>
          <a:ln xmlns:a="http://schemas.openxmlformats.org/drawingml/2006/main" w="9525">
            <a:solidFill>
              <a:srgbClr val="D5DDE2"/>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676"/>
                </a:solidFill>
              </a:defRPr>
            </a:pPr>
          </a:p>
        </c:txPr>
        <c:crossAx val="48650112"/>
        <c:crossBetween val="between"/>
        <c:majorUnit val="100"/>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43746"/>
              </a:solidFil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Ending cash</c:v>
          </c:tx>
          <c:spPr>
            <a:solidFill xmlns:a="http://schemas.openxmlformats.org/drawingml/2006/main">
              <a:srgbClr val="157A72"/>
            </a:solidFill>
          </c:spPr>
          <c:invertIfNegative val="0"/>
          <c:dPt>
            <c:idx val="0"/>
            <c:invertIfNegative val="0"/>
            <c:spPr>
              <a:solidFill xmlns:a="http://schemas.openxmlformats.org/drawingml/2006/main">
                <a:srgbClr val="B7533E"/>
              </a:solidFill>
            </c:spPr>
          </c:dPt>
          <c:dPt>
            <c:idx val="1"/>
            <c:invertIfNegative val="0"/>
            <c:spPr>
              <a:solidFill xmlns:a="http://schemas.openxmlformats.org/drawingml/2006/main">
                <a:srgbClr val="157A72"/>
              </a:solidFill>
            </c:spPr>
          </c:dPt>
          <c:dPt>
            <c:idx val="2"/>
            <c:invertIfNegative val="0"/>
            <c:spPr>
              <a:solidFill xmlns:a="http://schemas.openxmlformats.org/drawingml/2006/main">
                <a:srgbClr val="157A72"/>
              </a:solidFill>
            </c:spPr>
          </c:dPt>
          <c:dPt>
            <c:idx val="3"/>
            <c:invertIfNegative val="0"/>
            <c:spPr>
              <a:solidFill xmlns:a="http://schemas.openxmlformats.org/drawingml/2006/main">
                <a:srgbClr val="85939B"/>
              </a:solidFill>
            </c:spPr>
          </c:dPt>
          <c:cat>
            <c:strRef>
              <c:f>'Chart Data'!$A$2:$A$5</c:f>
              <c:strCache>
                <c:ptCount val="4"/>
                <c:pt idx="0">
                  <c:v>Recent normalized</c:v>
                </c:pt>
                <c:pt idx="1">
                  <c:v>Recent as posted</c:v>
                </c:pt>
                <c:pt idx="2">
                  <c:v>Repeat 2025 pace</c:v>
                </c:pt>
                <c:pt idx="3">
                  <c:v>Q1 2026 pattern</c:v>
                </c:pt>
              </c:strCache>
            </c:strRef>
          </c:cat>
          <c:val>
            <c:numRef>
              <c:f>'Chart Data'!$B$2:$B$5</c:f>
              <c:numCache>
                <c:formatCode>$0</c:formatCode>
                <c:ptCount val="4"/>
                <c:pt idx="0">
                  <c:v>21.083</c:v>
                </c:pt>
                <c:pt idx="1">
                  <c:v>61.083</c:v>
                </c:pt>
                <c:pt idx="2">
                  <c:v>80</c:v>
                </c:pt>
                <c:pt idx="3">
                  <c:v>50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b="1">
                  <a:solidFill>
                    <a:srgbClr val="243746"/>
                  </a:solidFil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E2"/>
            </a:solidFill>
            <a:prstDash val="solid"/>
          </a:ln>
        </c:spPr>
        <c:txPr>
          <a:bodyPr xmlns:a="http://schemas.openxmlformats.org/drawingml/2006/main" anchorCtr="1"/>
          <a:lstStyle xmlns:a="http://schemas.openxmlformats.org/drawingml/2006/main"/>
          <a:p xmlns:a="http://schemas.openxmlformats.org/drawingml/2006/main">
            <a:pPr>
              <a:defRPr sz="1050">
                <a:solidFill>
                  <a:srgbClr val="243746"/>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D5DDE2"/>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26676"/>
                    </a:solidFill>
                  </a:rPr>
                  <a:t>USD thousands</a:t>
                </a:r>
              </a:p>
            </c:rich>
          </c:tx>
          <c:overlay val="0"/>
          <c:txPr>
            <a:bodyPr xmlns:a="http://schemas.openxmlformats.org/drawingml/2006/main" anchorCtr="1"/>
            <a:lstStyle xmlns:a="http://schemas.openxmlformats.org/drawingml/2006/main"/>
            <a:p xmlns:a="http://schemas.openxmlformats.org/drawingml/2006/main">
              <a:pPr>
                <a:defRPr sz="1050">
                  <a:solidFill>
                    <a:srgbClr val="526676"/>
                  </a:solidFill>
                </a:defRPr>
              </a:pPr>
            </a:p>
          </c:txPr>
        </c:title>
        <c:numFmt formatCode="$0"/>
        <c:majorTickMark val="none"/>
        <c:minorTickMark val="none"/>
        <c:spPr>
          <a:ln xmlns:a="http://schemas.openxmlformats.org/drawingml/2006/main" w="9525">
            <a:solidFill>
              <a:srgbClr val="D5DDE2"/>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676"/>
                </a:solidFill>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ver-title">
            <a:extLst xmlns:a="http://schemas.openxmlformats.org/drawingml/2006/main">
              <a:ext uri="{FF2B5EF4-FFF2-40B4-BE49-F238E27FC236}">
                <a16:creationId xmlns:a16="http://schemas.microsoft.com/office/drawing/2014/main" id="{2B19FE1A-562B-4E10-A387-58E8CEFE84A9}"/>
              </a:ext>
            </a:extLst>
          </p:cNvPr>
          <p:cNvSpPr>
            <a:spLocks xmlns:a="http://schemas.openxmlformats.org/drawingml/2006/main" noGrp="1"/>
          </p:cNvSpPr>
          <p:nvPr/>
        </p:nvSpPr>
        <p:spPr>
          <a:xfrm xmlns:a="http://schemas.openxmlformats.org/drawingml/2006/main">
            <a:off x="742950" y="666750"/>
            <a:ext cx="1047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15334A"/>
                </a:solidFill>
              </a:defRPr>
            </a:defPPr>
            <a:lvl1pPr algn="l">
              <a:buNone/>
              <a:defRPr sz="4650" b="1">
                <a:solidFill>
                  <a:srgbClr val="15334A"/>
                </a:solidFill>
              </a:defRPr>
            </a:lvl1pPr>
            <a:lvl2pPr algn="l">
              <a:buNone/>
              <a:defRPr sz="4650" b="1">
                <a:solidFill>
                  <a:srgbClr val="15334A"/>
                </a:solidFill>
              </a:defRPr>
            </a:lvl2pPr>
            <a:lvl3pPr algn="l">
              <a:buNone/>
              <a:defRPr sz="4650" b="1">
                <a:solidFill>
                  <a:srgbClr val="15334A"/>
                </a:solidFill>
              </a:defRPr>
            </a:lvl3pPr>
            <a:lvl4pPr algn="l">
              <a:buNone/>
              <a:defRPr sz="4650" b="1">
                <a:solidFill>
                  <a:srgbClr val="15334A"/>
                </a:solidFill>
              </a:defRPr>
            </a:lvl4pPr>
            <a:lvl5pPr algn="l">
              <a:buNone/>
              <a:defRPr sz="4650" b="1">
                <a:solidFill>
                  <a:srgbClr val="15334A"/>
                </a:solidFill>
              </a:defRPr>
            </a:lvl5pPr>
            <a:lvl6pPr algn="l">
              <a:buNone/>
              <a:defRPr sz="4650" b="1">
                <a:solidFill>
                  <a:srgbClr val="15334A"/>
                </a:solidFill>
              </a:defRPr>
            </a:lvl6pPr>
            <a:lvl7pPr algn="l">
              <a:buNone/>
              <a:defRPr sz="4650" b="1">
                <a:solidFill>
                  <a:srgbClr val="15334A"/>
                </a:solidFill>
              </a:defRPr>
            </a:lvl7pPr>
            <a:lvl8pPr algn="l">
              <a:buNone/>
              <a:defRPr sz="4650" b="1">
                <a:solidFill>
                  <a:srgbClr val="15334A"/>
                </a:solidFill>
              </a:defRPr>
            </a:lvl8pPr>
            <a:lvl9pPr algn="l">
              <a:buNone/>
              <a:defRPr sz="4650" b="1">
                <a:solidFill>
                  <a:srgbClr val="15334A"/>
                </a:solidFill>
              </a:defRPr>
            </a:lvl9pPr>
          </a:lstStyle>
          <a:p xmlns:a="http://schemas.openxmlformats.org/drawingml/2006/main">
            <a:pPr algn="l">
              <a:buNone/>
              <a:defRPr sz="4650" b="1">
                <a:solidFill>
                  <a:srgbClr val="15334A"/>
                </a:solidFill>
              </a:defRPr>
            </a:pPr>
            <a:r>
              <a:rPr sz="4650" b="1">
                <a:solidFill>
                  <a:srgbClr val="15334A"/>
                </a:solidFill>
              </a:rPr>
              <a:t>NovaCart investment review</a:t>
            </a:r>
          </a:p>
        </p:txBody>
      </p:sp>
      <p:sp>
        <p:nvSpPr>
          <p:cNvPr id="2" name="decision">
            <a:extLst xmlns:a="http://schemas.openxmlformats.org/drawingml/2006/main">
              <a:ext uri="{FF2B5EF4-FFF2-40B4-BE49-F238E27FC236}">
                <a16:creationId xmlns:a16="http://schemas.microsoft.com/office/drawing/2014/main" id="{858F8429-24C0-4158-8737-B84892441A9E}"/>
              </a:ext>
            </a:extLst>
          </p:cNvPr>
          <p:cNvSpPr>
            <a:spLocks xmlns:a="http://schemas.openxmlformats.org/drawingml/2006/main" noGrp="1"/>
          </p:cNvSpPr>
          <p:nvPr/>
        </p:nvSpPr>
        <p:spPr>
          <a:xfrm xmlns:a="http://schemas.openxmlformats.org/drawingml/2006/main">
            <a:off x="762000" y="1952625"/>
            <a:ext cx="1028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B7533E"/>
                </a:solidFill>
              </a:defRPr>
            </a:defPPr>
            <a:lvl1pPr algn="l">
              <a:buNone/>
              <a:defRPr sz="3150" b="1">
                <a:solidFill>
                  <a:srgbClr val="B7533E"/>
                </a:solidFill>
              </a:defRPr>
            </a:lvl1pPr>
            <a:lvl2pPr algn="l">
              <a:buNone/>
              <a:defRPr sz="3150" b="1">
                <a:solidFill>
                  <a:srgbClr val="B7533E"/>
                </a:solidFill>
              </a:defRPr>
            </a:lvl2pPr>
            <a:lvl3pPr algn="l">
              <a:buNone/>
              <a:defRPr sz="3150" b="1">
                <a:solidFill>
                  <a:srgbClr val="B7533E"/>
                </a:solidFill>
              </a:defRPr>
            </a:lvl3pPr>
            <a:lvl4pPr algn="l">
              <a:buNone/>
              <a:defRPr sz="3150" b="1">
                <a:solidFill>
                  <a:srgbClr val="B7533E"/>
                </a:solidFill>
              </a:defRPr>
            </a:lvl4pPr>
            <a:lvl5pPr algn="l">
              <a:buNone/>
              <a:defRPr sz="3150" b="1">
                <a:solidFill>
                  <a:srgbClr val="B7533E"/>
                </a:solidFill>
              </a:defRPr>
            </a:lvl5pPr>
            <a:lvl6pPr algn="l">
              <a:buNone/>
              <a:defRPr sz="3150" b="1">
                <a:solidFill>
                  <a:srgbClr val="B7533E"/>
                </a:solidFill>
              </a:defRPr>
            </a:lvl6pPr>
            <a:lvl7pPr algn="l">
              <a:buNone/>
              <a:defRPr sz="3150" b="1">
                <a:solidFill>
                  <a:srgbClr val="B7533E"/>
                </a:solidFill>
              </a:defRPr>
            </a:lvl7pPr>
            <a:lvl8pPr algn="l">
              <a:buNone/>
              <a:defRPr sz="3150" b="1">
                <a:solidFill>
                  <a:srgbClr val="B7533E"/>
                </a:solidFill>
              </a:defRPr>
            </a:lvl8pPr>
            <a:lvl9pPr algn="l">
              <a:buNone/>
              <a:defRPr sz="3150" b="1">
                <a:solidFill>
                  <a:srgbClr val="B7533E"/>
                </a:solidFill>
              </a:defRPr>
            </a:lvl9pPr>
          </a:lstStyle>
          <a:p xmlns:a="http://schemas.openxmlformats.org/drawingml/2006/main">
            <a:pPr algn="l">
              <a:buNone/>
              <a:defRPr sz="3150" b="1">
                <a:solidFill>
                  <a:srgbClr val="B7533E"/>
                </a:solidFill>
              </a:defRPr>
            </a:pPr>
            <a:r>
              <a:rPr sz="3150" b="1">
                <a:solidFill>
                  <a:srgbClr val="B7533E"/>
                </a:solidFill>
              </a:rPr>
              <a:t>Pass on the $500,000 request as presented</a:t>
            </a:r>
          </a:p>
        </p:txBody>
      </p:sp>
      <p:sp>
        <p:nvSpPr>
          <p:cNvPr id="3" name="summary">
            <a:extLst xmlns:a="http://schemas.openxmlformats.org/drawingml/2006/main">
              <a:ext uri="{FF2B5EF4-FFF2-40B4-BE49-F238E27FC236}">
                <a16:creationId xmlns:a16="http://schemas.microsoft.com/office/drawing/2014/main" id="{7851EAE1-11DD-4C0E-BC0A-6C6A394CDE3D}"/>
              </a:ext>
            </a:extLst>
          </p:cNvPr>
          <p:cNvSpPr>
            <a:spLocks xmlns:a="http://schemas.openxmlformats.org/drawingml/2006/main" noGrp="1"/>
          </p:cNvSpPr>
          <p:nvPr/>
        </p:nvSpPr>
        <p:spPr>
          <a:xfrm xmlns:a="http://schemas.openxmlformats.org/drawingml/2006/main">
            <a:off x="762000" y="2781300"/>
            <a:ext cx="1009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243746"/>
                </a:solidFill>
              </a:defRPr>
            </a:defPPr>
            <a:lvl1pPr algn="l">
              <a:buNone/>
              <a:defRPr sz="2100" b="0">
                <a:solidFill>
                  <a:srgbClr val="243746"/>
                </a:solidFill>
              </a:defRPr>
            </a:lvl1pPr>
            <a:lvl2pPr algn="l">
              <a:buNone/>
              <a:defRPr sz="2100" b="0">
                <a:solidFill>
                  <a:srgbClr val="243746"/>
                </a:solidFill>
              </a:defRPr>
            </a:lvl2pPr>
            <a:lvl3pPr algn="l">
              <a:buNone/>
              <a:defRPr sz="2100" b="0">
                <a:solidFill>
                  <a:srgbClr val="243746"/>
                </a:solidFill>
              </a:defRPr>
            </a:lvl3pPr>
            <a:lvl4pPr algn="l">
              <a:buNone/>
              <a:defRPr sz="2100" b="0">
                <a:solidFill>
                  <a:srgbClr val="243746"/>
                </a:solidFill>
              </a:defRPr>
            </a:lvl4pPr>
            <a:lvl5pPr algn="l">
              <a:buNone/>
              <a:defRPr sz="2100" b="0">
                <a:solidFill>
                  <a:srgbClr val="243746"/>
                </a:solidFill>
              </a:defRPr>
            </a:lvl5pPr>
            <a:lvl6pPr algn="l">
              <a:buNone/>
              <a:defRPr sz="2100" b="0">
                <a:solidFill>
                  <a:srgbClr val="243746"/>
                </a:solidFill>
              </a:defRPr>
            </a:lvl6pPr>
            <a:lvl7pPr algn="l">
              <a:buNone/>
              <a:defRPr sz="2100" b="0">
                <a:solidFill>
                  <a:srgbClr val="243746"/>
                </a:solidFill>
              </a:defRPr>
            </a:lvl7pPr>
            <a:lvl8pPr algn="l">
              <a:buNone/>
              <a:defRPr sz="2100" b="0">
                <a:solidFill>
                  <a:srgbClr val="243746"/>
                </a:solidFill>
              </a:defRPr>
            </a:lvl8pPr>
            <a:lvl9pPr algn="l">
              <a:buNone/>
              <a:defRPr sz="2100" b="0">
                <a:solidFill>
                  <a:srgbClr val="243746"/>
                </a:solidFill>
              </a:defRPr>
            </a:lvl9pPr>
          </a:lstStyle>
          <a:p xmlns:a="http://schemas.openxmlformats.org/drawingml/2006/main">
            <a:pPr algn="l">
              <a:buNone/>
              <a:defRPr sz="2100" b="0">
                <a:solidFill>
                  <a:srgbClr val="243746"/>
                </a:solidFill>
              </a:defRPr>
            </a:pPr>
            <a:r>
              <a:rPr sz="2100" b="0">
                <a:solidFill>
                  <a:srgbClr val="243746"/>
                </a:solidFill>
              </a:rPr>
              <a:t>Revenue is growing, but operating costs rose faster and the base case leaves a thin cash cushion.</a:t>
            </a:r>
          </a:p>
        </p:txBody>
      </p:sp>
      <p:sp>
        <p:nvSpPr>
          <p:cNvPr id="4" name="metric-revenue">
            <a:extLst xmlns:a="http://schemas.openxmlformats.org/drawingml/2006/main">
              <a:ext uri="{FF2B5EF4-FFF2-40B4-BE49-F238E27FC236}">
                <a16:creationId xmlns:a16="http://schemas.microsoft.com/office/drawing/2014/main" id="{F81B26D4-FA4A-4AEF-927F-F7C65DDA0A2C}"/>
              </a:ext>
            </a:extLst>
          </p:cNvPr>
          <p:cNvSpPr>
            <a:spLocks xmlns:a="http://schemas.openxmlformats.org/drawingml/2006/main" noGrp="1"/>
          </p:cNvSpPr>
          <p:nvPr/>
        </p:nvSpPr>
        <p:spPr>
          <a:xfrm xmlns:a="http://schemas.openxmlformats.org/drawingml/2006/main">
            <a:off x="762000" y="4095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600" b="1">
                <a:solidFill>
                  <a:srgbClr val="157A72"/>
                </a:solidFill>
              </a:defRPr>
            </a:defPPr>
            <a:lvl1pPr algn="l">
              <a:buNone/>
              <a:defRPr sz="3600" b="1">
                <a:solidFill>
                  <a:srgbClr val="157A72"/>
                </a:solidFill>
              </a:defRPr>
            </a:lvl1pPr>
            <a:lvl2pPr algn="l">
              <a:buNone/>
              <a:defRPr sz="3600" b="1">
                <a:solidFill>
                  <a:srgbClr val="157A72"/>
                </a:solidFill>
              </a:defRPr>
            </a:lvl2pPr>
            <a:lvl3pPr algn="l">
              <a:buNone/>
              <a:defRPr sz="3600" b="1">
                <a:solidFill>
                  <a:srgbClr val="157A72"/>
                </a:solidFill>
              </a:defRPr>
            </a:lvl3pPr>
            <a:lvl4pPr algn="l">
              <a:buNone/>
              <a:defRPr sz="3600" b="1">
                <a:solidFill>
                  <a:srgbClr val="157A72"/>
                </a:solidFill>
              </a:defRPr>
            </a:lvl4pPr>
            <a:lvl5pPr algn="l">
              <a:buNone/>
              <a:defRPr sz="3600" b="1">
                <a:solidFill>
                  <a:srgbClr val="157A72"/>
                </a:solidFill>
              </a:defRPr>
            </a:lvl5pPr>
            <a:lvl6pPr algn="l">
              <a:buNone/>
              <a:defRPr sz="3600" b="1">
                <a:solidFill>
                  <a:srgbClr val="157A72"/>
                </a:solidFill>
              </a:defRPr>
            </a:lvl6pPr>
            <a:lvl7pPr algn="l">
              <a:buNone/>
              <a:defRPr sz="3600" b="1">
                <a:solidFill>
                  <a:srgbClr val="157A72"/>
                </a:solidFill>
              </a:defRPr>
            </a:lvl7pPr>
            <a:lvl8pPr algn="l">
              <a:buNone/>
              <a:defRPr sz="3600" b="1">
                <a:solidFill>
                  <a:srgbClr val="157A72"/>
                </a:solidFill>
              </a:defRPr>
            </a:lvl8pPr>
            <a:lvl9pPr algn="l">
              <a:buNone/>
              <a:defRPr sz="3600" b="1">
                <a:solidFill>
                  <a:srgbClr val="157A72"/>
                </a:solidFill>
              </a:defRPr>
            </a:lvl9pPr>
          </a:lstStyle>
          <a:p xmlns:a="http://schemas.openxmlformats.org/drawingml/2006/main">
            <a:pPr algn="l">
              <a:buNone/>
              <a:defRPr sz="3600" b="1">
                <a:solidFill>
                  <a:srgbClr val="157A72"/>
                </a:solidFill>
              </a:defRPr>
            </a:pPr>
            <a:r>
              <a:rPr sz="3600" b="1">
                <a:solidFill>
                  <a:srgbClr val="157A72"/>
                </a:solidFill>
              </a:rPr>
              <a:t>$520,000</a:t>
            </a:r>
          </a:p>
        </p:txBody>
      </p:sp>
      <p:sp>
        <p:nvSpPr>
          <p:cNvPr id="5" name="metric-revenue-label">
            <a:extLst xmlns:a="http://schemas.openxmlformats.org/drawingml/2006/main">
              <a:ext uri="{FF2B5EF4-FFF2-40B4-BE49-F238E27FC236}">
                <a16:creationId xmlns:a16="http://schemas.microsoft.com/office/drawing/2014/main" id="{5EFD7EE4-6FEF-4066-A3F4-B50B7AEC4D63}"/>
              </a:ext>
            </a:extLst>
          </p:cNvPr>
          <p:cNvSpPr>
            <a:spLocks xmlns:a="http://schemas.openxmlformats.org/drawingml/2006/main" noGrp="1"/>
          </p:cNvSpPr>
          <p:nvPr/>
        </p:nvSpPr>
        <p:spPr>
          <a:xfrm xmlns:a="http://schemas.openxmlformats.org/drawingml/2006/main">
            <a:off x="762000" y="4705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26676"/>
                </a:solidFill>
              </a:defRPr>
            </a:defPPr>
            <a:lvl1pPr algn="l">
              <a:buNone/>
              <a:defRPr sz="1650" b="0">
                <a:solidFill>
                  <a:srgbClr val="526676"/>
                </a:solidFill>
              </a:defRPr>
            </a:lvl1pPr>
            <a:lvl2pPr algn="l">
              <a:buNone/>
              <a:defRPr sz="1650" b="0">
                <a:solidFill>
                  <a:srgbClr val="526676"/>
                </a:solidFill>
              </a:defRPr>
            </a:lvl2pPr>
            <a:lvl3pPr algn="l">
              <a:buNone/>
              <a:defRPr sz="1650" b="0">
                <a:solidFill>
                  <a:srgbClr val="526676"/>
                </a:solidFill>
              </a:defRPr>
            </a:lvl3pPr>
            <a:lvl4pPr algn="l">
              <a:buNone/>
              <a:defRPr sz="1650" b="0">
                <a:solidFill>
                  <a:srgbClr val="526676"/>
                </a:solidFill>
              </a:defRPr>
            </a:lvl4pPr>
            <a:lvl5pPr algn="l">
              <a:buNone/>
              <a:defRPr sz="1650" b="0">
                <a:solidFill>
                  <a:srgbClr val="526676"/>
                </a:solidFill>
              </a:defRPr>
            </a:lvl5pPr>
            <a:lvl6pPr algn="l">
              <a:buNone/>
              <a:defRPr sz="1650" b="0">
                <a:solidFill>
                  <a:srgbClr val="526676"/>
                </a:solidFill>
              </a:defRPr>
            </a:lvl6pPr>
            <a:lvl7pPr algn="l">
              <a:buNone/>
              <a:defRPr sz="1650" b="0">
                <a:solidFill>
                  <a:srgbClr val="526676"/>
                </a:solidFill>
              </a:defRPr>
            </a:lvl7pPr>
            <a:lvl8pPr algn="l">
              <a:buNone/>
              <a:defRPr sz="1650" b="0">
                <a:solidFill>
                  <a:srgbClr val="526676"/>
                </a:solidFill>
              </a:defRPr>
            </a:lvl8pPr>
            <a:lvl9pPr algn="l">
              <a:buNone/>
              <a:defRPr sz="1650" b="0">
                <a:solidFill>
                  <a:srgbClr val="526676"/>
                </a:solidFill>
              </a:defRPr>
            </a:lvl9pPr>
          </a:lstStyle>
          <a:p xmlns:a="http://schemas.openxmlformats.org/drawingml/2006/main">
            <a:pPr algn="l">
              <a:buNone/>
              <a:defRPr sz="1650" b="0">
                <a:solidFill>
                  <a:srgbClr val="526676"/>
                </a:solidFill>
              </a:defRPr>
            </a:pPr>
            <a:r>
              <a:rPr sz="1650" b="0">
                <a:solidFill>
                  <a:srgbClr val="526676"/>
                </a:solidFill>
              </a:rPr>
              <a:t>2025 net revenue</a:t>
            </a:r>
          </a:p>
        </p:txBody>
      </p:sp>
      <p:sp>
        <p:nvSpPr>
          <p:cNvPr id="6" name="metric-loss">
            <a:extLst xmlns:a="http://schemas.openxmlformats.org/drawingml/2006/main">
              <a:ext uri="{FF2B5EF4-FFF2-40B4-BE49-F238E27FC236}">
                <a16:creationId xmlns:a16="http://schemas.microsoft.com/office/drawing/2014/main" id="{5CA45762-3910-4D9C-B33C-8AFE0E237A25}"/>
              </a:ext>
            </a:extLst>
          </p:cNvPr>
          <p:cNvSpPr>
            <a:spLocks xmlns:a="http://schemas.openxmlformats.org/drawingml/2006/main" noGrp="1"/>
          </p:cNvSpPr>
          <p:nvPr/>
        </p:nvSpPr>
        <p:spPr>
          <a:xfrm xmlns:a="http://schemas.openxmlformats.org/drawingml/2006/main">
            <a:off x="4476750" y="4095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600" b="1">
                <a:solidFill>
                  <a:srgbClr val="B7533E"/>
                </a:solidFill>
              </a:defRPr>
            </a:defPPr>
            <a:lvl1pPr algn="l">
              <a:buNone/>
              <a:defRPr sz="3600" b="1">
                <a:solidFill>
                  <a:srgbClr val="B7533E"/>
                </a:solidFill>
              </a:defRPr>
            </a:lvl1pPr>
            <a:lvl2pPr algn="l">
              <a:buNone/>
              <a:defRPr sz="3600" b="1">
                <a:solidFill>
                  <a:srgbClr val="B7533E"/>
                </a:solidFill>
              </a:defRPr>
            </a:lvl2pPr>
            <a:lvl3pPr algn="l">
              <a:buNone/>
              <a:defRPr sz="3600" b="1">
                <a:solidFill>
                  <a:srgbClr val="B7533E"/>
                </a:solidFill>
              </a:defRPr>
            </a:lvl3pPr>
            <a:lvl4pPr algn="l">
              <a:buNone/>
              <a:defRPr sz="3600" b="1">
                <a:solidFill>
                  <a:srgbClr val="B7533E"/>
                </a:solidFill>
              </a:defRPr>
            </a:lvl4pPr>
            <a:lvl5pPr algn="l">
              <a:buNone/>
              <a:defRPr sz="3600" b="1">
                <a:solidFill>
                  <a:srgbClr val="B7533E"/>
                </a:solidFill>
              </a:defRPr>
            </a:lvl5pPr>
            <a:lvl6pPr algn="l">
              <a:buNone/>
              <a:defRPr sz="3600" b="1">
                <a:solidFill>
                  <a:srgbClr val="B7533E"/>
                </a:solidFill>
              </a:defRPr>
            </a:lvl6pPr>
            <a:lvl7pPr algn="l">
              <a:buNone/>
              <a:defRPr sz="3600" b="1">
                <a:solidFill>
                  <a:srgbClr val="B7533E"/>
                </a:solidFill>
              </a:defRPr>
            </a:lvl7pPr>
            <a:lvl8pPr algn="l">
              <a:buNone/>
              <a:defRPr sz="3600" b="1">
                <a:solidFill>
                  <a:srgbClr val="B7533E"/>
                </a:solidFill>
              </a:defRPr>
            </a:lvl8pPr>
            <a:lvl9pPr algn="l">
              <a:buNone/>
              <a:defRPr sz="3600" b="1">
                <a:solidFill>
                  <a:srgbClr val="B7533E"/>
                </a:solidFill>
              </a:defRPr>
            </a:lvl9pPr>
          </a:lstStyle>
          <a:p xmlns:a="http://schemas.openxmlformats.org/drawingml/2006/main">
            <a:pPr algn="l">
              <a:buNone/>
              <a:defRPr sz="3600" b="1">
                <a:solidFill>
                  <a:srgbClr val="B7533E"/>
                </a:solidFill>
              </a:defRPr>
            </a:pPr>
            <a:r>
              <a:rPr sz="3600" b="1">
                <a:solidFill>
                  <a:srgbClr val="B7533E"/>
                </a:solidFill>
              </a:rPr>
              <a:t>($90,000)</a:t>
            </a:r>
          </a:p>
        </p:txBody>
      </p:sp>
      <p:sp>
        <p:nvSpPr>
          <p:cNvPr id="7" name="metric-loss-label">
            <a:extLst xmlns:a="http://schemas.openxmlformats.org/drawingml/2006/main">
              <a:ext uri="{FF2B5EF4-FFF2-40B4-BE49-F238E27FC236}">
                <a16:creationId xmlns:a16="http://schemas.microsoft.com/office/drawing/2014/main" id="{7C8EFD3C-6552-4F69-8A01-7A165BF9A56A}"/>
              </a:ext>
            </a:extLst>
          </p:cNvPr>
          <p:cNvSpPr>
            <a:spLocks xmlns:a="http://schemas.openxmlformats.org/drawingml/2006/main" noGrp="1"/>
          </p:cNvSpPr>
          <p:nvPr/>
        </p:nvSpPr>
        <p:spPr>
          <a:xfrm xmlns:a="http://schemas.openxmlformats.org/drawingml/2006/main">
            <a:off x="4476750" y="4705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26676"/>
                </a:solidFill>
              </a:defRPr>
            </a:defPPr>
            <a:lvl1pPr algn="l">
              <a:buNone/>
              <a:defRPr sz="1650" b="0">
                <a:solidFill>
                  <a:srgbClr val="526676"/>
                </a:solidFill>
              </a:defRPr>
            </a:lvl1pPr>
            <a:lvl2pPr algn="l">
              <a:buNone/>
              <a:defRPr sz="1650" b="0">
                <a:solidFill>
                  <a:srgbClr val="526676"/>
                </a:solidFill>
              </a:defRPr>
            </a:lvl2pPr>
            <a:lvl3pPr algn="l">
              <a:buNone/>
              <a:defRPr sz="1650" b="0">
                <a:solidFill>
                  <a:srgbClr val="526676"/>
                </a:solidFill>
              </a:defRPr>
            </a:lvl3pPr>
            <a:lvl4pPr algn="l">
              <a:buNone/>
              <a:defRPr sz="1650" b="0">
                <a:solidFill>
                  <a:srgbClr val="526676"/>
                </a:solidFill>
              </a:defRPr>
            </a:lvl4pPr>
            <a:lvl5pPr algn="l">
              <a:buNone/>
              <a:defRPr sz="1650" b="0">
                <a:solidFill>
                  <a:srgbClr val="526676"/>
                </a:solidFill>
              </a:defRPr>
            </a:lvl5pPr>
            <a:lvl6pPr algn="l">
              <a:buNone/>
              <a:defRPr sz="1650" b="0">
                <a:solidFill>
                  <a:srgbClr val="526676"/>
                </a:solidFill>
              </a:defRPr>
            </a:lvl6pPr>
            <a:lvl7pPr algn="l">
              <a:buNone/>
              <a:defRPr sz="1650" b="0">
                <a:solidFill>
                  <a:srgbClr val="526676"/>
                </a:solidFill>
              </a:defRPr>
            </a:lvl7pPr>
            <a:lvl8pPr algn="l">
              <a:buNone/>
              <a:defRPr sz="1650" b="0">
                <a:solidFill>
                  <a:srgbClr val="526676"/>
                </a:solidFill>
              </a:defRPr>
            </a:lvl8pPr>
            <a:lvl9pPr algn="l">
              <a:buNone/>
              <a:defRPr sz="1650" b="0">
                <a:solidFill>
                  <a:srgbClr val="526676"/>
                </a:solidFill>
              </a:defRPr>
            </a:lvl9pPr>
          </a:lstStyle>
          <a:p xmlns:a="http://schemas.openxmlformats.org/drawingml/2006/main">
            <a:pPr algn="l">
              <a:buNone/>
              <a:defRPr sz="1650" b="0">
                <a:solidFill>
                  <a:srgbClr val="526676"/>
                </a:solidFill>
              </a:defRPr>
            </a:pPr>
            <a:r>
              <a:rPr sz="1650" b="0">
                <a:solidFill>
                  <a:srgbClr val="526676"/>
                </a:solidFill>
              </a:rPr>
              <a:t>2025 operating loss</a:t>
            </a:r>
          </a:p>
        </p:txBody>
      </p:sp>
      <p:sp>
        <p:nvSpPr>
          <p:cNvPr id="8" name="metric-cash">
            <a:extLst xmlns:a="http://schemas.openxmlformats.org/drawingml/2006/main">
              <a:ext uri="{FF2B5EF4-FFF2-40B4-BE49-F238E27FC236}">
                <a16:creationId xmlns:a16="http://schemas.microsoft.com/office/drawing/2014/main" id="{774ECCAE-2DB8-4899-8038-8A923C8471D6}"/>
              </a:ext>
            </a:extLst>
          </p:cNvPr>
          <p:cNvSpPr>
            <a:spLocks xmlns:a="http://schemas.openxmlformats.org/drawingml/2006/main" noGrp="1"/>
          </p:cNvSpPr>
          <p:nvPr/>
        </p:nvSpPr>
        <p:spPr>
          <a:xfrm xmlns:a="http://schemas.openxmlformats.org/drawingml/2006/main">
            <a:off x="8191500" y="4095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600" b="1">
                <a:solidFill>
                  <a:srgbClr val="15334A"/>
                </a:solidFill>
              </a:defRPr>
            </a:defPPr>
            <a:lvl1pPr algn="l">
              <a:buNone/>
              <a:defRPr sz="3600" b="1">
                <a:solidFill>
                  <a:srgbClr val="15334A"/>
                </a:solidFill>
              </a:defRPr>
            </a:lvl1pPr>
            <a:lvl2pPr algn="l">
              <a:buNone/>
              <a:defRPr sz="3600" b="1">
                <a:solidFill>
                  <a:srgbClr val="15334A"/>
                </a:solidFill>
              </a:defRPr>
            </a:lvl2pPr>
            <a:lvl3pPr algn="l">
              <a:buNone/>
              <a:defRPr sz="3600" b="1">
                <a:solidFill>
                  <a:srgbClr val="15334A"/>
                </a:solidFill>
              </a:defRPr>
            </a:lvl3pPr>
            <a:lvl4pPr algn="l">
              <a:buNone/>
              <a:defRPr sz="3600" b="1">
                <a:solidFill>
                  <a:srgbClr val="15334A"/>
                </a:solidFill>
              </a:defRPr>
            </a:lvl4pPr>
            <a:lvl5pPr algn="l">
              <a:buNone/>
              <a:defRPr sz="3600" b="1">
                <a:solidFill>
                  <a:srgbClr val="15334A"/>
                </a:solidFill>
              </a:defRPr>
            </a:lvl5pPr>
            <a:lvl6pPr algn="l">
              <a:buNone/>
              <a:defRPr sz="3600" b="1">
                <a:solidFill>
                  <a:srgbClr val="15334A"/>
                </a:solidFill>
              </a:defRPr>
            </a:lvl6pPr>
            <a:lvl7pPr algn="l">
              <a:buNone/>
              <a:defRPr sz="3600" b="1">
                <a:solidFill>
                  <a:srgbClr val="15334A"/>
                </a:solidFill>
              </a:defRPr>
            </a:lvl7pPr>
            <a:lvl8pPr algn="l">
              <a:buNone/>
              <a:defRPr sz="3600" b="1">
                <a:solidFill>
                  <a:srgbClr val="15334A"/>
                </a:solidFill>
              </a:defRPr>
            </a:lvl8pPr>
            <a:lvl9pPr algn="l">
              <a:buNone/>
              <a:defRPr sz="3600" b="1">
                <a:solidFill>
                  <a:srgbClr val="15334A"/>
                </a:solidFill>
              </a:defRPr>
            </a:lvl9pPr>
          </a:lstStyle>
          <a:p xmlns:a="http://schemas.openxmlformats.org/drawingml/2006/main">
            <a:pPr algn="l">
              <a:buNone/>
              <a:defRPr sz="3600" b="1">
                <a:solidFill>
                  <a:srgbClr val="15334A"/>
                </a:solidFill>
              </a:defRPr>
            </a:pPr>
            <a:r>
              <a:rPr sz="3600" b="1">
                <a:solidFill>
                  <a:srgbClr val="15334A"/>
                </a:solidFill>
              </a:rPr>
              <a:t>$21,083</a:t>
            </a:r>
          </a:p>
        </p:txBody>
      </p:sp>
      <p:sp>
        <p:nvSpPr>
          <p:cNvPr id="9" name="metric-cash-label">
            <a:extLst xmlns:a="http://schemas.openxmlformats.org/drawingml/2006/main">
              <a:ext uri="{FF2B5EF4-FFF2-40B4-BE49-F238E27FC236}">
                <a16:creationId xmlns:a16="http://schemas.microsoft.com/office/drawing/2014/main" id="{19A89DE3-3A02-4F24-9DC8-CED5EE85B361}"/>
              </a:ext>
            </a:extLst>
          </p:cNvPr>
          <p:cNvSpPr>
            <a:spLocks xmlns:a="http://schemas.openxmlformats.org/drawingml/2006/main" noGrp="1"/>
          </p:cNvSpPr>
          <p:nvPr/>
        </p:nvSpPr>
        <p:spPr>
          <a:xfrm xmlns:a="http://schemas.openxmlformats.org/drawingml/2006/main">
            <a:off x="8191500" y="47053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26676"/>
                </a:solidFill>
              </a:defRPr>
            </a:defPPr>
            <a:lvl1pPr algn="l">
              <a:buNone/>
              <a:defRPr sz="1650" b="0">
                <a:solidFill>
                  <a:srgbClr val="526676"/>
                </a:solidFill>
              </a:defRPr>
            </a:lvl1pPr>
            <a:lvl2pPr algn="l">
              <a:buNone/>
              <a:defRPr sz="1650" b="0">
                <a:solidFill>
                  <a:srgbClr val="526676"/>
                </a:solidFill>
              </a:defRPr>
            </a:lvl2pPr>
            <a:lvl3pPr algn="l">
              <a:buNone/>
              <a:defRPr sz="1650" b="0">
                <a:solidFill>
                  <a:srgbClr val="526676"/>
                </a:solidFill>
              </a:defRPr>
            </a:lvl3pPr>
            <a:lvl4pPr algn="l">
              <a:buNone/>
              <a:defRPr sz="1650" b="0">
                <a:solidFill>
                  <a:srgbClr val="526676"/>
                </a:solidFill>
              </a:defRPr>
            </a:lvl4pPr>
            <a:lvl5pPr algn="l">
              <a:buNone/>
              <a:defRPr sz="1650" b="0">
                <a:solidFill>
                  <a:srgbClr val="526676"/>
                </a:solidFill>
              </a:defRPr>
            </a:lvl5pPr>
            <a:lvl6pPr algn="l">
              <a:buNone/>
              <a:defRPr sz="1650" b="0">
                <a:solidFill>
                  <a:srgbClr val="526676"/>
                </a:solidFill>
              </a:defRPr>
            </a:lvl6pPr>
            <a:lvl7pPr algn="l">
              <a:buNone/>
              <a:defRPr sz="1650" b="0">
                <a:solidFill>
                  <a:srgbClr val="526676"/>
                </a:solidFill>
              </a:defRPr>
            </a:lvl7pPr>
            <a:lvl8pPr algn="l">
              <a:buNone/>
              <a:defRPr sz="1650" b="0">
                <a:solidFill>
                  <a:srgbClr val="526676"/>
                </a:solidFill>
              </a:defRPr>
            </a:lvl8pPr>
            <a:lvl9pPr algn="l">
              <a:buNone/>
              <a:defRPr sz="1650" b="0">
                <a:solidFill>
                  <a:srgbClr val="526676"/>
                </a:solidFill>
              </a:defRPr>
            </a:lvl9pPr>
          </a:lstStyle>
          <a:p xmlns:a="http://schemas.openxmlformats.org/drawingml/2006/main">
            <a:pPr algn="l">
              <a:buNone/>
              <a:defRPr sz="1650" b="0">
                <a:solidFill>
                  <a:srgbClr val="526676"/>
                </a:solidFill>
              </a:defRPr>
            </a:pPr>
            <a:r>
              <a:rPr sz="1650" b="0">
                <a:solidFill>
                  <a:srgbClr val="526676"/>
                </a:solidFill>
              </a:rPr>
              <a:t>Base case cash, Mar 2027</a:t>
            </a:r>
          </a:p>
        </p:txBody>
      </p:sp>
      <p:sp>
        <p:nvSpPr>
          <p:cNvPr id="10" name="date">
            <a:extLst xmlns:a="http://schemas.openxmlformats.org/drawingml/2006/main">
              <a:ext uri="{FF2B5EF4-FFF2-40B4-BE49-F238E27FC236}">
                <a16:creationId xmlns:a16="http://schemas.microsoft.com/office/drawing/2014/main" id="{96921C35-A608-4023-B287-B534089FCC12}"/>
              </a:ext>
            </a:extLst>
          </p:cNvPr>
          <p:cNvSpPr>
            <a:spLocks xmlns:a="http://schemas.openxmlformats.org/drawingml/2006/main" noGrp="1"/>
          </p:cNvSpPr>
          <p:nvPr/>
        </p:nvSpPr>
        <p:spPr>
          <a:xfrm xmlns:a="http://schemas.openxmlformats.org/drawingml/2006/main">
            <a:off x="762000" y="595312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676"/>
                </a:solidFill>
              </a:defRPr>
            </a:defPPr>
            <a:lvl1pPr algn="l">
              <a:buNone/>
              <a:defRPr sz="1350" b="0">
                <a:solidFill>
                  <a:srgbClr val="526676"/>
                </a:solidFill>
              </a:defRPr>
            </a:lvl1pPr>
            <a:lvl2pPr algn="l">
              <a:buNone/>
              <a:defRPr sz="1350" b="0">
                <a:solidFill>
                  <a:srgbClr val="526676"/>
                </a:solidFill>
              </a:defRPr>
            </a:lvl2pPr>
            <a:lvl3pPr algn="l">
              <a:buNone/>
              <a:defRPr sz="1350" b="0">
                <a:solidFill>
                  <a:srgbClr val="526676"/>
                </a:solidFill>
              </a:defRPr>
            </a:lvl3pPr>
            <a:lvl4pPr algn="l">
              <a:buNone/>
              <a:defRPr sz="1350" b="0">
                <a:solidFill>
                  <a:srgbClr val="526676"/>
                </a:solidFill>
              </a:defRPr>
            </a:lvl4pPr>
            <a:lvl5pPr algn="l">
              <a:buNone/>
              <a:defRPr sz="1350" b="0">
                <a:solidFill>
                  <a:srgbClr val="526676"/>
                </a:solidFill>
              </a:defRPr>
            </a:lvl5pPr>
            <a:lvl6pPr algn="l">
              <a:buNone/>
              <a:defRPr sz="1350" b="0">
                <a:solidFill>
                  <a:srgbClr val="526676"/>
                </a:solidFill>
              </a:defRPr>
            </a:lvl6pPr>
            <a:lvl7pPr algn="l">
              <a:buNone/>
              <a:defRPr sz="1350" b="0">
                <a:solidFill>
                  <a:srgbClr val="526676"/>
                </a:solidFill>
              </a:defRPr>
            </a:lvl7pPr>
            <a:lvl8pPr algn="l">
              <a:buNone/>
              <a:defRPr sz="1350" b="0">
                <a:solidFill>
                  <a:srgbClr val="526676"/>
                </a:solidFill>
              </a:defRPr>
            </a:lvl8pPr>
            <a:lvl9pPr algn="l">
              <a:buNone/>
              <a:defRPr sz="1350" b="0">
                <a:solidFill>
                  <a:srgbClr val="526676"/>
                </a:solidFill>
              </a:defRPr>
            </a:lvl9pPr>
          </a:lstStyle>
          <a:p xmlns:a="http://schemas.openxmlformats.org/drawingml/2006/main">
            <a:pPr algn="l">
              <a:buNone/>
              <a:defRPr sz="1350" b="0">
                <a:solidFill>
                  <a:srgbClr val="526676"/>
                </a:solidFill>
              </a:defRPr>
            </a:pPr>
            <a:r>
              <a:rPr sz="1350" b="0">
                <a:solidFill>
                  <a:srgbClr val="526676"/>
                </a:solidFill>
              </a:rPr>
              <a:t>Investment committee | October 22, 2026</a:t>
            </a:r>
          </a:p>
        </p:txBody>
      </p:sp>
    </p:spTree>
    <p:extLst>
      <p:ext uri="{BB962C8B-B14F-4D97-AF65-F5344CB8AC3E}">
        <p14:creationId xmlns:p14="http://schemas.microsoft.com/office/powerpoint/2010/main" val="220748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FFE35AC-3D4D-4134-98EF-4F669813CDF1}"/>
              </a:ext>
            </a:extLst>
          </p:cNvPr>
          <p:cNvSpPr>
            <a:spLocks xmlns:a="http://schemas.openxmlformats.org/drawingml/2006/main" noGrp="1"/>
          </p:cNvSpPr>
          <p:nvPr/>
        </p:nvSpPr>
        <p:spPr>
          <a:xfrm xmlns:a="http://schemas.openxmlformats.org/drawingml/2006/main">
            <a:off x="685800" y="342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334A"/>
                </a:solidFill>
              </a:defRPr>
            </a:defPPr>
            <a:lvl1pPr algn="l">
              <a:buNone/>
              <a:defRPr sz="3450" b="1">
                <a:solidFill>
                  <a:srgbClr val="15334A"/>
                </a:solidFill>
              </a:defRPr>
            </a:lvl1pPr>
            <a:lvl2pPr algn="l">
              <a:buNone/>
              <a:defRPr sz="3450" b="1">
                <a:solidFill>
                  <a:srgbClr val="15334A"/>
                </a:solidFill>
              </a:defRPr>
            </a:lvl2pPr>
            <a:lvl3pPr algn="l">
              <a:buNone/>
              <a:defRPr sz="3450" b="1">
                <a:solidFill>
                  <a:srgbClr val="15334A"/>
                </a:solidFill>
              </a:defRPr>
            </a:lvl3pPr>
            <a:lvl4pPr algn="l">
              <a:buNone/>
              <a:defRPr sz="3450" b="1">
                <a:solidFill>
                  <a:srgbClr val="15334A"/>
                </a:solidFill>
              </a:defRPr>
            </a:lvl4pPr>
            <a:lvl5pPr algn="l">
              <a:buNone/>
              <a:defRPr sz="3450" b="1">
                <a:solidFill>
                  <a:srgbClr val="15334A"/>
                </a:solidFill>
              </a:defRPr>
            </a:lvl5pPr>
            <a:lvl6pPr algn="l">
              <a:buNone/>
              <a:defRPr sz="3450" b="1">
                <a:solidFill>
                  <a:srgbClr val="15334A"/>
                </a:solidFill>
              </a:defRPr>
            </a:lvl6pPr>
            <a:lvl7pPr algn="l">
              <a:buNone/>
              <a:defRPr sz="3450" b="1">
                <a:solidFill>
                  <a:srgbClr val="15334A"/>
                </a:solidFill>
              </a:defRPr>
            </a:lvl7pPr>
            <a:lvl8pPr algn="l">
              <a:buNone/>
              <a:defRPr sz="3450" b="1">
                <a:solidFill>
                  <a:srgbClr val="15334A"/>
                </a:solidFill>
              </a:defRPr>
            </a:lvl8pPr>
            <a:lvl9pPr algn="l">
              <a:buNone/>
              <a:defRPr sz="3450" b="1">
                <a:solidFill>
                  <a:srgbClr val="15334A"/>
                </a:solidFill>
              </a:defRPr>
            </a:lvl9pPr>
          </a:lstStyle>
          <a:p xmlns:a="http://schemas.openxmlformats.org/drawingml/2006/main">
            <a:pPr algn="l">
              <a:buNone/>
              <a:defRPr sz="3450" b="1">
                <a:solidFill>
                  <a:srgbClr val="15334A"/>
                </a:solidFill>
              </a:defRPr>
            </a:pPr>
            <a:r>
              <a:rPr sz="3450" b="1">
                <a:solidFill>
                  <a:srgbClr val="15334A"/>
                </a:solidFill>
              </a:rPr>
              <a:t>2025 revenue reconstructs to $520,000</a:t>
            </a:r>
          </a:p>
        </p:txBody>
      </p:sp>
      <p:sp>
        <p:nvSpPr>
          <p:cNvPr id="2" name="page-number">
            <a:extLst xmlns:a="http://schemas.openxmlformats.org/drawingml/2006/main">
              <a:ext uri="{FF2B5EF4-FFF2-40B4-BE49-F238E27FC236}">
                <a16:creationId xmlns:a16="http://schemas.microsoft.com/office/drawing/2014/main" id="{C197047F-EF71-4623-AAB4-DEC04EA5B151}"/>
              </a:ext>
            </a:extLst>
          </p:cNvPr>
          <p:cNvSpPr>
            <a:spLocks xmlns:a="http://schemas.openxmlformats.org/drawingml/2006/main" noGrp="1"/>
          </p:cNvSpPr>
          <p:nvPr/>
        </p:nvSpPr>
        <p:spPr>
          <a:xfrm xmlns:a="http://schemas.openxmlformats.org/drawingml/2006/main">
            <a:off x="11277600" y="64389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25" b="0">
                <a:solidFill>
                  <a:srgbClr val="526676"/>
                </a:solidFill>
              </a:defRPr>
            </a:defPPr>
            <a:lvl1pPr algn="r">
              <a:buNone/>
              <a:defRPr sz="1125" b="0">
                <a:solidFill>
                  <a:srgbClr val="526676"/>
                </a:solidFill>
              </a:defRPr>
            </a:lvl1pPr>
            <a:lvl2pPr algn="r">
              <a:buNone/>
              <a:defRPr sz="1125" b="0">
                <a:solidFill>
                  <a:srgbClr val="526676"/>
                </a:solidFill>
              </a:defRPr>
            </a:lvl2pPr>
            <a:lvl3pPr algn="r">
              <a:buNone/>
              <a:defRPr sz="1125" b="0">
                <a:solidFill>
                  <a:srgbClr val="526676"/>
                </a:solidFill>
              </a:defRPr>
            </a:lvl3pPr>
            <a:lvl4pPr algn="r">
              <a:buNone/>
              <a:defRPr sz="1125" b="0">
                <a:solidFill>
                  <a:srgbClr val="526676"/>
                </a:solidFill>
              </a:defRPr>
            </a:lvl4pPr>
            <a:lvl5pPr algn="r">
              <a:buNone/>
              <a:defRPr sz="1125" b="0">
                <a:solidFill>
                  <a:srgbClr val="526676"/>
                </a:solidFill>
              </a:defRPr>
            </a:lvl5pPr>
            <a:lvl6pPr algn="r">
              <a:buNone/>
              <a:defRPr sz="1125" b="0">
                <a:solidFill>
                  <a:srgbClr val="526676"/>
                </a:solidFill>
              </a:defRPr>
            </a:lvl6pPr>
            <a:lvl7pPr algn="r">
              <a:buNone/>
              <a:defRPr sz="1125" b="0">
                <a:solidFill>
                  <a:srgbClr val="526676"/>
                </a:solidFill>
              </a:defRPr>
            </a:lvl7pPr>
            <a:lvl8pPr algn="r">
              <a:buNone/>
              <a:defRPr sz="1125" b="0">
                <a:solidFill>
                  <a:srgbClr val="526676"/>
                </a:solidFill>
              </a:defRPr>
            </a:lvl8pPr>
            <a:lvl9pPr algn="r">
              <a:buNone/>
              <a:defRPr sz="1125" b="0">
                <a:solidFill>
                  <a:srgbClr val="526676"/>
                </a:solidFill>
              </a:defRPr>
            </a:lvl9pPr>
          </a:lstStyle>
          <a:p xmlns:a="http://schemas.openxmlformats.org/drawingml/2006/main">
            <a:pPr algn="r">
              <a:buNone/>
              <a:defRPr sz="1125" b="0">
                <a:solidFill>
                  <a:srgbClr val="526676"/>
                </a:solidFill>
              </a:defRPr>
            </a:pPr>
            <a:r>
              <a:rPr sz="1125" b="0">
                <a:solidFill>
                  <a:srgbClr val="526676"/>
                </a:solidFill>
              </a:rPr>
              <a:t>2</a:t>
            </a:r>
          </a:p>
        </p:txBody>
      </p:sp>
      <p:sp>
        <p:nvSpPr>
          <p:cNvPr id="3" name="subtitle">
            <a:extLst xmlns:a="http://schemas.openxmlformats.org/drawingml/2006/main">
              <a:ext uri="{FF2B5EF4-FFF2-40B4-BE49-F238E27FC236}">
                <a16:creationId xmlns:a16="http://schemas.microsoft.com/office/drawing/2014/main" id="{BD3FC15F-7394-438C-B898-425E11C67038}"/>
              </a:ext>
            </a:extLst>
          </p:cNvPr>
          <p:cNvSpPr>
            <a:spLocks xmlns:a="http://schemas.openxmlformats.org/drawingml/2006/main" noGrp="1"/>
          </p:cNvSpPr>
          <p:nvPr/>
        </p:nvSpPr>
        <p:spPr>
          <a:xfrm xmlns:a="http://schemas.openxmlformats.org/drawingml/2006/main">
            <a:off x="704850" y="10096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526676"/>
                </a:solidFill>
              </a:defRPr>
            </a:defPPr>
            <a:lvl1pPr algn="l">
              <a:buNone/>
              <a:defRPr sz="1800" b="0">
                <a:solidFill>
                  <a:srgbClr val="526676"/>
                </a:solidFill>
              </a:defRPr>
            </a:lvl1pPr>
            <a:lvl2pPr algn="l">
              <a:buNone/>
              <a:defRPr sz="1800" b="0">
                <a:solidFill>
                  <a:srgbClr val="526676"/>
                </a:solidFill>
              </a:defRPr>
            </a:lvl2pPr>
            <a:lvl3pPr algn="l">
              <a:buNone/>
              <a:defRPr sz="1800" b="0">
                <a:solidFill>
                  <a:srgbClr val="526676"/>
                </a:solidFill>
              </a:defRPr>
            </a:lvl3pPr>
            <a:lvl4pPr algn="l">
              <a:buNone/>
              <a:defRPr sz="1800" b="0">
                <a:solidFill>
                  <a:srgbClr val="526676"/>
                </a:solidFill>
              </a:defRPr>
            </a:lvl4pPr>
            <a:lvl5pPr algn="l">
              <a:buNone/>
              <a:defRPr sz="1800" b="0">
                <a:solidFill>
                  <a:srgbClr val="526676"/>
                </a:solidFill>
              </a:defRPr>
            </a:lvl5pPr>
            <a:lvl6pPr algn="l">
              <a:buNone/>
              <a:defRPr sz="1800" b="0">
                <a:solidFill>
                  <a:srgbClr val="526676"/>
                </a:solidFill>
              </a:defRPr>
            </a:lvl6pPr>
            <a:lvl7pPr algn="l">
              <a:buNone/>
              <a:defRPr sz="1800" b="0">
                <a:solidFill>
                  <a:srgbClr val="526676"/>
                </a:solidFill>
              </a:defRPr>
            </a:lvl7pPr>
            <a:lvl8pPr algn="l">
              <a:buNone/>
              <a:defRPr sz="1800" b="0">
                <a:solidFill>
                  <a:srgbClr val="526676"/>
                </a:solidFill>
              </a:defRPr>
            </a:lvl8pPr>
            <a:lvl9pPr algn="l">
              <a:buNone/>
              <a:defRPr sz="1800" b="0">
                <a:solidFill>
                  <a:srgbClr val="526676"/>
                </a:solidFill>
              </a:defRPr>
            </a:lvl9pPr>
          </a:lstStyle>
          <a:p xmlns:a="http://schemas.openxmlformats.org/drawingml/2006/main">
            <a:pPr algn="l">
              <a:buNone/>
              <a:defRPr sz="1800" b="0">
                <a:solidFill>
                  <a:srgbClr val="526676"/>
                </a:solidFill>
              </a:defRPr>
            </a:pPr>
            <a:r>
              <a:rPr sz="1800" b="0">
                <a:solidFill>
                  <a:srgbClr val="526676"/>
                </a:solidFill>
              </a:rPr>
              <a:t>Cash-basis bridge from invoice rows to revenue after refunds</a:t>
            </a:r>
          </a:p>
        </p:txBody>
      </p:sp>
      <p:graphicFrame>
        <p:nvGraphicFramePr>
          <p:cNvPr id="4" name="">
            <a:extLst xmlns:a="http://schemas.openxmlformats.org/drawingml/2006/main">
              <a:ext uri="{FF2B5EF4-FFF2-40B4-BE49-F238E27FC236}">
                <a16:creationId xmlns:a16="http://schemas.microsoft.com/office/drawing/2014/main" id="{73088A7E-6F1D-4200-90C2-A3A2D9F2B2D1}"/>
              </a:ext>
            </a:extLst>
          </p:cNvPr>
          <p:cNvGraphicFramePr/>
          <p:nvPr/>
        </p:nvGraphicFramePr>
        <p:xfrm>
          <a:off xmlns:a="http://schemas.openxmlformats.org/drawingml/2006/main" x="742950" y="1562100"/>
          <a:ext xmlns:a="http://schemas.openxmlformats.org/drawingml/2006/main" cx="10706100" cy="4095750"/>
        </p:xfrm>
        <a:graphic xmlns:a="http://schemas.openxmlformats.org/drawingml/2006/main">
          <a:graphicData uri="http://schemas.openxmlformats.org/drawingml/2006/table">
            <a:tbl>
              <a:tblPr/>
              <a:tblGrid>
                <a:gridCol w="8001000"/>
                <a:gridCol w="2705100"/>
              </a:tblGrid>
              <a:tr h="511969">
                <a:tc>
                  <a:txBody>
                    <a:bodyPr lIns="114300" tIns="47625" rIns="114300" bIns="47625">
                      <a:normAutofit/>
                    </a:bodyPr>
                    <a:lstStyle/>
                    <a:p>
                      <a:pPr algn="l">
                        <a:buNone/>
                      </a:pPr>
                      <a:r>
                        <a:rPr sz="1725" b="1">
                          <a:solidFill>
                            <a:srgbClr val="FFFFFF"/>
                          </a:solidFill>
                        </a:rPr>
                        <a:t>2025 bridge</a:t>
                      </a:r>
                    </a:p>
                  </a:txBody>
                  <a:tcPr marL="91440" marR="91440" marT="45720" marB="45720" anchor="ctr">
                    <a:lnL w="9525">
                      <a:solidFill>
                        <a:srgbClr val="D6DEE3"/>
                      </a:solidFill>
                      <a:prstDash val="solid"/>
                    </a:lnL>
                    <a:lnR w="9525">
                      <a:solidFill>
                        <a:srgbClr val="D6DEE3"/>
                      </a:solidFill>
                      <a:prstDash val="solid"/>
                    </a:lnR>
                    <a:lnT w="9525">
                      <a:solidFill>
                        <a:srgbClr val="D6DEE3"/>
                      </a:solidFill>
                      <a:prstDash val="solid"/>
                    </a:lnT>
                    <a:lnB w="9525">
                      <a:solidFill>
                        <a:srgbClr val="D6DEE3"/>
                      </a:solidFill>
                      <a:prstDash val="solid"/>
                    </a:lnB>
                    <a:solidFill>
                      <a:srgbClr val="15334A"/>
                    </a:solidFill>
                  </a:tcPr>
                </a:tc>
                <a:tc>
                  <a:txBody>
                    <a:bodyPr lIns="114300" tIns="47625" rIns="114300" bIns="47625">
                      <a:normAutofit/>
                    </a:bodyPr>
                    <a:lstStyle/>
                    <a:p>
                      <a:pPr algn="r">
                        <a:buNone/>
                      </a:pPr>
                      <a:r>
                        <a:rPr sz="1725" b="1">
                          <a:solidFill>
                            <a:srgbClr val="FFFFFF"/>
                          </a:solidFill>
                        </a:rPr>
                        <a:t>USD</a:t>
                      </a:r>
                    </a:p>
                  </a:txBody>
                  <a:tcPr marL="91440" marR="91440" marT="45720" marB="45720" anchor="ctr">
                    <a:lnR w="9525">
                      <a:solidFill>
                        <a:srgbClr val="D6DEE3"/>
                      </a:solidFill>
                      <a:prstDash val="solid"/>
                    </a:lnR>
                    <a:lnT w="9525">
                      <a:solidFill>
                        <a:srgbClr val="D6DEE3"/>
                      </a:solidFill>
                      <a:prstDash val="solid"/>
                    </a:lnT>
                    <a:lnB w="9525">
                      <a:solidFill>
                        <a:srgbClr val="D6DEE3"/>
                      </a:solidFill>
                      <a:prstDash val="solid"/>
                    </a:lnB>
                    <a:solidFill>
                      <a:srgbClr val="15334A"/>
                    </a:solidFill>
                  </a:tcPr>
                </a:tc>
              </a:tr>
              <a:tr h="511969">
                <a:tc>
                  <a:txBody>
                    <a:bodyPr lIns="114300" tIns="47625" rIns="114300" bIns="47625">
                      <a:normAutofit/>
                    </a:bodyPr>
                    <a:lstStyle/>
                    <a:p>
                      <a:pPr algn="l">
                        <a:buNone/>
                      </a:pPr>
                      <a:r>
                        <a:rPr sz="1650" b="0">
                          <a:solidFill>
                            <a:srgbClr val="243746"/>
                          </a:solidFill>
                        </a:rPr>
                        <a:t>Raw 2025 invoice rows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FFFFF"/>
                    </a:solidFill>
                  </a:tcPr>
                </a:tc>
                <a:tc>
                  <a:txBody>
                    <a:bodyPr lIns="114300" tIns="47625" rIns="114300" bIns="47625">
                      <a:normAutofit/>
                    </a:bodyPr>
                    <a:lstStyle/>
                    <a:p>
                      <a:pPr algn="r">
                        <a:buNone/>
                      </a:pPr>
                      <a:r>
                        <a:rPr sz="1650" b="0">
                          <a:solidFill>
                            <a:srgbClr val="243746"/>
                          </a:solidFill>
                        </a:rPr>
                        <a:t>$1,000,000</a:t>
                      </a:r>
                    </a:p>
                  </a:txBody>
                  <a:tcPr marL="91440" marR="91440" marT="45720" marB="45720" anchor="ctr">
                    <a:lnR w="9525">
                      <a:solidFill>
                        <a:srgbClr val="D6DEE3"/>
                      </a:solidFill>
                      <a:prstDash val="solid"/>
                    </a:lnR>
                    <a:lnB w="9525">
                      <a:solidFill>
                        <a:srgbClr val="D6DEE3"/>
                      </a:solidFill>
                      <a:prstDash val="solid"/>
                    </a:lnB>
                    <a:solidFill>
                      <a:srgbClr val="FFFFFF"/>
                    </a:solidFill>
                  </a:tcPr>
                </a:tc>
              </a:tr>
              <a:tr h="511969">
                <a:tc>
                  <a:txBody>
                    <a:bodyPr lIns="114300" tIns="47625" rIns="114300" bIns="47625">
                      <a:normAutofit/>
                    </a:bodyPr>
                    <a:lstStyle/>
                    <a:p>
                      <a:pPr algn="l">
                        <a:buNone/>
                      </a:pPr>
                      <a:r>
                        <a:rPr sz="1650" b="0">
                          <a:solidFill>
                            <a:srgbClr val="243746"/>
                          </a:solidFill>
                        </a:rPr>
                        <a:t>Less: duplicate invoice copies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4F7F8"/>
                    </a:solidFill>
                  </a:tcPr>
                </a:tc>
                <a:tc>
                  <a:txBody>
                    <a:bodyPr lIns="114300" tIns="47625" rIns="114300" bIns="47625">
                      <a:normAutofit/>
                    </a:bodyPr>
                    <a:lstStyle/>
                    <a:p>
                      <a:pPr algn="r">
                        <a:buNone/>
                      </a:pPr>
                      <a:r>
                        <a:rPr sz="1650" b="0">
                          <a:solidFill>
                            <a:srgbClr val="243746"/>
                          </a:solidFill>
                        </a:rPr>
                        <a:t>($325,000)</a:t>
                      </a:r>
                    </a:p>
                  </a:txBody>
                  <a:tcPr marL="91440" marR="91440" marT="45720" marB="45720" anchor="ctr">
                    <a:lnR w="9525">
                      <a:solidFill>
                        <a:srgbClr val="D6DEE3"/>
                      </a:solidFill>
                      <a:prstDash val="solid"/>
                    </a:lnR>
                    <a:lnB w="9525">
                      <a:solidFill>
                        <a:srgbClr val="D6DEE3"/>
                      </a:solidFill>
                      <a:prstDash val="solid"/>
                    </a:lnB>
                    <a:solidFill>
                      <a:srgbClr val="F4F7F8"/>
                    </a:solidFill>
                  </a:tcPr>
                </a:tc>
              </a:tr>
              <a:tr h="511969">
                <a:tc>
                  <a:txBody>
                    <a:bodyPr lIns="114300" tIns="47625" rIns="114300" bIns="47625">
                      <a:normAutofit/>
                    </a:bodyPr>
                    <a:lstStyle/>
                    <a:p>
                      <a:pPr algn="l">
                        <a:buNone/>
                      </a:pPr>
                      <a:r>
                        <a:rPr sz="1650" b="0">
                          <a:solidFill>
                            <a:srgbClr val="243746"/>
                          </a:solidFill>
                        </a:rPr>
                        <a:t>Less: open invoices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FFFFF"/>
                    </a:solidFill>
                  </a:tcPr>
                </a:tc>
                <a:tc>
                  <a:txBody>
                    <a:bodyPr lIns="114300" tIns="47625" rIns="114300" bIns="47625">
                      <a:normAutofit/>
                    </a:bodyPr>
                    <a:lstStyle/>
                    <a:p>
                      <a:pPr algn="r">
                        <a:buNone/>
                      </a:pPr>
                      <a:r>
                        <a:rPr sz="1650" b="0">
                          <a:solidFill>
                            <a:srgbClr val="243746"/>
                          </a:solidFill>
                        </a:rPr>
                        <a:t>($85,000)</a:t>
                      </a:r>
                    </a:p>
                  </a:txBody>
                  <a:tcPr marL="91440" marR="91440" marT="45720" marB="45720" anchor="ctr">
                    <a:lnR w="9525">
                      <a:solidFill>
                        <a:srgbClr val="D6DEE3"/>
                      </a:solidFill>
                      <a:prstDash val="solid"/>
                    </a:lnR>
                    <a:lnB w="9525">
                      <a:solidFill>
                        <a:srgbClr val="D6DEE3"/>
                      </a:solidFill>
                      <a:prstDash val="solid"/>
                    </a:lnB>
                    <a:solidFill>
                      <a:srgbClr val="FFFFFF"/>
                    </a:solidFill>
                  </a:tcPr>
                </a:tc>
              </a:tr>
              <a:tr h="511969">
                <a:tc>
                  <a:txBody>
                    <a:bodyPr lIns="114300" tIns="47625" rIns="114300" bIns="47625">
                      <a:normAutofit/>
                    </a:bodyPr>
                    <a:lstStyle/>
                    <a:p>
                      <a:pPr algn="l">
                        <a:buNone/>
                      </a:pPr>
                      <a:r>
                        <a:rPr sz="1650" b="0">
                          <a:solidFill>
                            <a:srgbClr val="243746"/>
                          </a:solidFill>
                        </a:rPr>
                        <a:t>Less: 2025 invoice collected in March 2026</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4F7F8"/>
                    </a:solidFill>
                  </a:tcPr>
                </a:tc>
                <a:tc>
                  <a:txBody>
                    <a:bodyPr lIns="114300" tIns="47625" rIns="114300" bIns="47625">
                      <a:normAutofit/>
                    </a:bodyPr>
                    <a:lstStyle/>
                    <a:p>
                      <a:pPr algn="r">
                        <a:buNone/>
                      </a:pPr>
                      <a:r>
                        <a:rPr sz="1650" b="0">
                          <a:solidFill>
                            <a:srgbClr val="243746"/>
                          </a:solidFill>
                        </a:rPr>
                        <a:t>($40,000)</a:t>
                      </a:r>
                    </a:p>
                  </a:txBody>
                  <a:tcPr marL="91440" marR="91440" marT="45720" marB="45720" anchor="ctr">
                    <a:lnR w="9525">
                      <a:solidFill>
                        <a:srgbClr val="D6DEE3"/>
                      </a:solidFill>
                      <a:prstDash val="solid"/>
                    </a:lnR>
                    <a:lnB w="9525">
                      <a:solidFill>
                        <a:srgbClr val="D6DEE3"/>
                      </a:solidFill>
                      <a:prstDash val="solid"/>
                    </a:lnB>
                    <a:solidFill>
                      <a:srgbClr val="F4F7F8"/>
                    </a:solidFill>
                  </a:tcPr>
                </a:tc>
              </a:tr>
              <a:tr h="511969">
                <a:tc>
                  <a:txBody>
                    <a:bodyPr lIns="114300" tIns="47625" rIns="114300" bIns="47625">
                      <a:normAutofit/>
                    </a:bodyPr>
                    <a:lstStyle/>
                    <a:p>
                      <a:pPr algn="l">
                        <a:buNone/>
                      </a:pPr>
                      <a:r>
                        <a:rPr sz="1650" b="0">
                          <a:solidFill>
                            <a:srgbClr val="243746"/>
                          </a:solidFill>
                        </a:rPr>
                        <a:t>Gross 2025 customer receipts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FFFFF"/>
                    </a:solidFill>
                  </a:tcPr>
                </a:tc>
                <a:tc>
                  <a:txBody>
                    <a:bodyPr lIns="114300" tIns="47625" rIns="114300" bIns="47625">
                      <a:normAutofit/>
                    </a:bodyPr>
                    <a:lstStyle/>
                    <a:p>
                      <a:pPr algn="r">
                        <a:buNone/>
                      </a:pPr>
                      <a:r>
                        <a:rPr sz="1650" b="0">
                          <a:solidFill>
                            <a:srgbClr val="243746"/>
                          </a:solidFill>
                        </a:rPr>
                        <a:t>$550,000</a:t>
                      </a:r>
                    </a:p>
                  </a:txBody>
                  <a:tcPr marL="91440" marR="91440" marT="45720" marB="45720" anchor="ctr">
                    <a:lnR w="9525">
                      <a:solidFill>
                        <a:srgbClr val="D6DEE3"/>
                      </a:solidFill>
                      <a:prstDash val="solid"/>
                    </a:lnR>
                    <a:lnB w="9525">
                      <a:solidFill>
                        <a:srgbClr val="D6DEE3"/>
                      </a:solidFill>
                      <a:prstDash val="solid"/>
                    </a:lnB>
                    <a:solidFill>
                      <a:srgbClr val="FFFFFF"/>
                    </a:solidFill>
                  </a:tcPr>
                </a:tc>
              </a:tr>
              <a:tr h="511969">
                <a:tc>
                  <a:txBody>
                    <a:bodyPr lIns="114300" tIns="47625" rIns="114300" bIns="47625">
                      <a:normAutofit/>
                    </a:bodyPr>
                    <a:lstStyle/>
                    <a:p>
                      <a:pPr algn="l">
                        <a:buNone/>
                      </a:pPr>
                      <a:r>
                        <a:rPr sz="1650" b="0">
                          <a:solidFill>
                            <a:srgbClr val="243746"/>
                          </a:solidFill>
                        </a:rPr>
                        <a:t>Less: 2025 customer refunds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4F7F8"/>
                    </a:solidFill>
                  </a:tcPr>
                </a:tc>
                <a:tc>
                  <a:txBody>
                    <a:bodyPr lIns="114300" tIns="47625" rIns="114300" bIns="47625">
                      <a:normAutofit/>
                    </a:bodyPr>
                    <a:lstStyle/>
                    <a:p>
                      <a:pPr algn="r">
                        <a:buNone/>
                      </a:pPr>
                      <a:r>
                        <a:rPr sz="1650" b="0">
                          <a:solidFill>
                            <a:srgbClr val="243746"/>
                          </a:solidFill>
                        </a:rPr>
                        <a:t>($30,000)</a:t>
                      </a:r>
                    </a:p>
                  </a:txBody>
                  <a:tcPr marL="91440" marR="91440" marT="45720" marB="45720" anchor="ctr">
                    <a:lnR w="9525">
                      <a:solidFill>
                        <a:srgbClr val="D6DEE3"/>
                      </a:solidFill>
                      <a:prstDash val="solid"/>
                    </a:lnR>
                    <a:lnB w="9525">
                      <a:solidFill>
                        <a:srgbClr val="D6DEE3"/>
                      </a:solidFill>
                      <a:prstDash val="solid"/>
                    </a:lnB>
                    <a:solidFill>
                      <a:srgbClr val="F4F7F8"/>
                    </a:solidFill>
                  </a:tcPr>
                </a:tc>
              </a:tr>
              <a:tr h="511969">
                <a:tc>
                  <a:txBody>
                    <a:bodyPr lIns="114300" tIns="47625" rIns="114300" bIns="47625">
                      <a:normAutofit/>
                    </a:bodyPr>
                    <a:lstStyle/>
                    <a:p>
                      <a:pPr algn="l">
                        <a:buNone/>
                      </a:pPr>
                      <a:r>
                        <a:rPr sz="1650" b="1">
                          <a:solidFill>
                            <a:srgbClr val="15334A"/>
                          </a:solidFill>
                        </a:rPr>
                        <a:t>Net revenue after refunds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E7F3F1"/>
                    </a:solidFill>
                  </a:tcPr>
                </a:tc>
                <a:tc>
                  <a:txBody>
                    <a:bodyPr lIns="114300" tIns="47625" rIns="114300" bIns="47625">
                      <a:normAutofit/>
                    </a:bodyPr>
                    <a:lstStyle/>
                    <a:p>
                      <a:pPr algn="r">
                        <a:buNone/>
                      </a:pPr>
                      <a:r>
                        <a:rPr sz="1650" b="1">
                          <a:solidFill>
                            <a:srgbClr val="15334A"/>
                          </a:solidFill>
                        </a:rPr>
                        <a:t>$520,000</a:t>
                      </a:r>
                    </a:p>
                  </a:txBody>
                  <a:tcPr marL="91440" marR="91440" marT="45720" marB="45720" anchor="ctr">
                    <a:lnR w="9525">
                      <a:solidFill>
                        <a:srgbClr val="D6DEE3"/>
                      </a:solidFill>
                      <a:prstDash val="solid"/>
                    </a:lnR>
                    <a:lnB w="9525">
                      <a:solidFill>
                        <a:srgbClr val="D6DEE3"/>
                      </a:solidFill>
                      <a:prstDash val="solid"/>
                    </a:lnB>
                    <a:solidFill>
                      <a:srgbClr val="E7F3F1"/>
                    </a:solidFill>
                  </a:tcPr>
                </a:tc>
              </a:tr>
            </a:tbl>
          </a:graphicData>
        </a:graphic>
      </p:graphicFrame>
      <p:sp>
        <p:nvSpPr>
          <p:cNvPr id="5" name="pitch-comparison">
            <a:extLst xmlns:a="http://schemas.openxmlformats.org/drawingml/2006/main">
              <a:ext uri="{FF2B5EF4-FFF2-40B4-BE49-F238E27FC236}">
                <a16:creationId xmlns:a16="http://schemas.microsoft.com/office/drawing/2014/main" id="{15CAF6F1-963F-413B-8905-7617F7148F2F}"/>
              </a:ext>
            </a:extLst>
          </p:cNvPr>
          <p:cNvSpPr>
            <a:spLocks xmlns:a="http://schemas.openxmlformats.org/drawingml/2006/main" noGrp="1"/>
          </p:cNvSpPr>
          <p:nvPr/>
        </p:nvSpPr>
        <p:spPr>
          <a:xfrm xmlns:a="http://schemas.openxmlformats.org/drawingml/2006/main">
            <a:off x="762000" y="57912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243746"/>
                </a:solidFill>
              </a:defRPr>
            </a:defPPr>
            <a:lvl1pPr algn="l">
              <a:buNone/>
              <a:defRPr sz="1650" b="0">
                <a:solidFill>
                  <a:srgbClr val="243746"/>
                </a:solidFill>
              </a:defRPr>
            </a:lvl1pPr>
            <a:lvl2pPr algn="l">
              <a:buNone/>
              <a:defRPr sz="1650" b="0">
                <a:solidFill>
                  <a:srgbClr val="243746"/>
                </a:solidFill>
              </a:defRPr>
            </a:lvl2pPr>
            <a:lvl3pPr algn="l">
              <a:buNone/>
              <a:defRPr sz="1650" b="0">
                <a:solidFill>
                  <a:srgbClr val="243746"/>
                </a:solidFill>
              </a:defRPr>
            </a:lvl3pPr>
            <a:lvl4pPr algn="l">
              <a:buNone/>
              <a:defRPr sz="1650" b="0">
                <a:solidFill>
                  <a:srgbClr val="243746"/>
                </a:solidFill>
              </a:defRPr>
            </a:lvl4pPr>
            <a:lvl5pPr algn="l">
              <a:buNone/>
              <a:defRPr sz="1650" b="0">
                <a:solidFill>
                  <a:srgbClr val="243746"/>
                </a:solidFill>
              </a:defRPr>
            </a:lvl5pPr>
            <a:lvl6pPr algn="l">
              <a:buNone/>
              <a:defRPr sz="1650" b="0">
                <a:solidFill>
                  <a:srgbClr val="243746"/>
                </a:solidFill>
              </a:defRPr>
            </a:lvl6pPr>
            <a:lvl7pPr algn="l">
              <a:buNone/>
              <a:defRPr sz="1650" b="0">
                <a:solidFill>
                  <a:srgbClr val="243746"/>
                </a:solidFill>
              </a:defRPr>
            </a:lvl7pPr>
            <a:lvl8pPr algn="l">
              <a:buNone/>
              <a:defRPr sz="1650" b="0">
                <a:solidFill>
                  <a:srgbClr val="243746"/>
                </a:solidFill>
              </a:defRPr>
            </a:lvl8pPr>
            <a:lvl9pPr algn="l">
              <a:buNone/>
              <a:defRPr sz="1650" b="0">
                <a:solidFill>
                  <a:srgbClr val="243746"/>
                </a:solidFill>
              </a:defRPr>
            </a:lvl9pPr>
          </a:lstStyle>
          <a:p xmlns:a="http://schemas.openxmlformats.org/drawingml/2006/main">
            <a:pPr algn="l">
              <a:buNone/>
              <a:defRPr sz="1650" b="0">
                <a:solidFill>
                  <a:srgbClr val="243746"/>
                </a:solidFill>
              </a:defRPr>
            </a:pPr>
            <a:r>
              <a:rPr sz="1650" b="0">
                <a:solidFill>
                  <a:srgbClr val="243746"/>
                </a:solidFill>
              </a:rPr>
              <a:t>The stated 300% growth math is correct for $300,000 to $1,200,000. Reconstructed net revenue grew 73.3% from $300,000 in 2024.</a:t>
            </a:r>
          </a:p>
        </p:txBody>
      </p:sp>
      <p:sp>
        <p:nvSpPr>
          <p:cNvPr id="6" name="source-footer">
            <a:extLst xmlns:a="http://schemas.openxmlformats.org/drawingml/2006/main">
              <a:ext uri="{FF2B5EF4-FFF2-40B4-BE49-F238E27FC236}">
                <a16:creationId xmlns:a16="http://schemas.microsoft.com/office/drawing/2014/main" id="{CBB251F7-ABF5-4851-B1B8-9833AA2AF194}"/>
              </a:ext>
            </a:extLst>
          </p:cNvPr>
          <p:cNvSpPr>
            <a:spLocks xmlns:a="http://schemas.openxmlformats.org/drawingml/2006/main" noGrp="1"/>
          </p:cNvSpPr>
          <p:nvPr/>
        </p:nvSpPr>
        <p:spPr>
          <a:xfrm xmlns:a="http://schemas.openxmlformats.org/drawingml/2006/main">
            <a:off x="685800" y="6419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26676"/>
                </a:solidFill>
              </a:defRPr>
            </a:defPPr>
            <a:lvl1pPr algn="l">
              <a:buNone/>
              <a:defRPr sz="1125" b="0">
                <a:solidFill>
                  <a:srgbClr val="526676"/>
                </a:solidFill>
              </a:defRPr>
            </a:lvl1pPr>
            <a:lvl2pPr algn="l">
              <a:buNone/>
              <a:defRPr sz="1125" b="0">
                <a:solidFill>
                  <a:srgbClr val="526676"/>
                </a:solidFill>
              </a:defRPr>
            </a:lvl2pPr>
            <a:lvl3pPr algn="l">
              <a:buNone/>
              <a:defRPr sz="1125" b="0">
                <a:solidFill>
                  <a:srgbClr val="526676"/>
                </a:solidFill>
              </a:defRPr>
            </a:lvl3pPr>
            <a:lvl4pPr algn="l">
              <a:buNone/>
              <a:defRPr sz="1125" b="0">
                <a:solidFill>
                  <a:srgbClr val="526676"/>
                </a:solidFill>
              </a:defRPr>
            </a:lvl4pPr>
            <a:lvl5pPr algn="l">
              <a:buNone/>
              <a:defRPr sz="1125" b="0">
                <a:solidFill>
                  <a:srgbClr val="526676"/>
                </a:solidFill>
              </a:defRPr>
            </a:lvl5pPr>
            <a:lvl6pPr algn="l">
              <a:buNone/>
              <a:defRPr sz="1125" b="0">
                <a:solidFill>
                  <a:srgbClr val="526676"/>
                </a:solidFill>
              </a:defRPr>
            </a:lvl6pPr>
            <a:lvl7pPr algn="l">
              <a:buNone/>
              <a:defRPr sz="1125" b="0">
                <a:solidFill>
                  <a:srgbClr val="526676"/>
                </a:solidFill>
              </a:defRPr>
            </a:lvl7pPr>
            <a:lvl8pPr algn="l">
              <a:buNone/>
              <a:defRPr sz="1125" b="0">
                <a:solidFill>
                  <a:srgbClr val="526676"/>
                </a:solidFill>
              </a:defRPr>
            </a:lvl8pPr>
            <a:lvl9pPr algn="l">
              <a:buNone/>
              <a:defRPr sz="1125" b="0">
                <a:solidFill>
                  <a:srgbClr val="526676"/>
                </a:solidFill>
              </a:defRPr>
            </a:lvl9pPr>
          </a:lstStyle>
          <a:p xmlns:a="http://schemas.openxmlformats.org/drawingml/2006/main">
            <a:pPr algn="l">
              <a:buNone/>
              <a:defRPr sz="1125" b="0">
                <a:solidFill>
                  <a:srgbClr val="526676"/>
                </a:solidFill>
              </a:defRPr>
            </a:pPr>
            <a:r>
              <a:rPr sz="1125" b="0">
                <a:solidFill>
                  <a:srgbClr val="526676"/>
                </a:solidFill>
              </a:rPr>
              <a:t>Sources: inputs/claims.md, inputs/invoices.csv, inputs/bank.csv</a:t>
            </a:r>
          </a:p>
        </p:txBody>
      </p:sp>
    </p:spTree>
    <p:extLst>
      <p:ext uri="{BB962C8B-B14F-4D97-AF65-F5344CB8AC3E}">
        <p14:creationId xmlns:p14="http://schemas.microsoft.com/office/powerpoint/2010/main" val="11754458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AAF9DB9-EB0A-4259-B400-10F47AC7ED1C}"/>
              </a:ext>
            </a:extLst>
          </p:cNvPr>
          <p:cNvSpPr>
            <a:spLocks xmlns:a="http://schemas.openxmlformats.org/drawingml/2006/main" noGrp="1"/>
          </p:cNvSpPr>
          <p:nvPr/>
        </p:nvSpPr>
        <p:spPr>
          <a:xfrm xmlns:a="http://schemas.openxmlformats.org/drawingml/2006/main">
            <a:off x="685800" y="342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334A"/>
                </a:solidFill>
              </a:defRPr>
            </a:defPPr>
            <a:lvl1pPr algn="l">
              <a:buNone/>
              <a:defRPr sz="3450" b="1">
                <a:solidFill>
                  <a:srgbClr val="15334A"/>
                </a:solidFill>
              </a:defRPr>
            </a:lvl1pPr>
            <a:lvl2pPr algn="l">
              <a:buNone/>
              <a:defRPr sz="3450" b="1">
                <a:solidFill>
                  <a:srgbClr val="15334A"/>
                </a:solidFill>
              </a:defRPr>
            </a:lvl2pPr>
            <a:lvl3pPr algn="l">
              <a:buNone/>
              <a:defRPr sz="3450" b="1">
                <a:solidFill>
                  <a:srgbClr val="15334A"/>
                </a:solidFill>
              </a:defRPr>
            </a:lvl3pPr>
            <a:lvl4pPr algn="l">
              <a:buNone/>
              <a:defRPr sz="3450" b="1">
                <a:solidFill>
                  <a:srgbClr val="15334A"/>
                </a:solidFill>
              </a:defRPr>
            </a:lvl4pPr>
            <a:lvl5pPr algn="l">
              <a:buNone/>
              <a:defRPr sz="3450" b="1">
                <a:solidFill>
                  <a:srgbClr val="15334A"/>
                </a:solidFill>
              </a:defRPr>
            </a:lvl5pPr>
            <a:lvl6pPr algn="l">
              <a:buNone/>
              <a:defRPr sz="3450" b="1">
                <a:solidFill>
                  <a:srgbClr val="15334A"/>
                </a:solidFill>
              </a:defRPr>
            </a:lvl6pPr>
            <a:lvl7pPr algn="l">
              <a:buNone/>
              <a:defRPr sz="3450" b="1">
                <a:solidFill>
                  <a:srgbClr val="15334A"/>
                </a:solidFill>
              </a:defRPr>
            </a:lvl7pPr>
            <a:lvl8pPr algn="l">
              <a:buNone/>
              <a:defRPr sz="3450" b="1">
                <a:solidFill>
                  <a:srgbClr val="15334A"/>
                </a:solidFill>
              </a:defRPr>
            </a:lvl8pPr>
            <a:lvl9pPr algn="l">
              <a:buNone/>
              <a:defRPr sz="3450" b="1">
                <a:solidFill>
                  <a:srgbClr val="15334A"/>
                </a:solidFill>
              </a:defRPr>
            </a:lvl9pPr>
          </a:lstStyle>
          <a:p xmlns:a="http://schemas.openxmlformats.org/drawingml/2006/main">
            <a:pPr algn="l">
              <a:buNone/>
              <a:defRPr sz="3450" b="1">
                <a:solidFill>
                  <a:srgbClr val="15334A"/>
                </a:solidFill>
              </a:defRPr>
            </a:pPr>
            <a:r>
              <a:rPr sz="3450" b="1">
                <a:solidFill>
                  <a:srgbClr val="15334A"/>
                </a:solidFill>
              </a:rPr>
              <a:t>Invoice records now tie to bank receipts</a:t>
            </a:r>
          </a:p>
        </p:txBody>
      </p:sp>
      <p:sp>
        <p:nvSpPr>
          <p:cNvPr id="2" name="page-number">
            <a:extLst xmlns:a="http://schemas.openxmlformats.org/drawingml/2006/main">
              <a:ext uri="{FF2B5EF4-FFF2-40B4-BE49-F238E27FC236}">
                <a16:creationId xmlns:a16="http://schemas.microsoft.com/office/drawing/2014/main" id="{6892B89B-0C71-4732-B6FE-1B141F235B75}"/>
              </a:ext>
            </a:extLst>
          </p:cNvPr>
          <p:cNvSpPr>
            <a:spLocks xmlns:a="http://schemas.openxmlformats.org/drawingml/2006/main" noGrp="1"/>
          </p:cNvSpPr>
          <p:nvPr/>
        </p:nvSpPr>
        <p:spPr>
          <a:xfrm xmlns:a="http://schemas.openxmlformats.org/drawingml/2006/main">
            <a:off x="11277600" y="64389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25" b="0">
                <a:solidFill>
                  <a:srgbClr val="526676"/>
                </a:solidFill>
              </a:defRPr>
            </a:defPPr>
            <a:lvl1pPr algn="r">
              <a:buNone/>
              <a:defRPr sz="1125" b="0">
                <a:solidFill>
                  <a:srgbClr val="526676"/>
                </a:solidFill>
              </a:defRPr>
            </a:lvl1pPr>
            <a:lvl2pPr algn="r">
              <a:buNone/>
              <a:defRPr sz="1125" b="0">
                <a:solidFill>
                  <a:srgbClr val="526676"/>
                </a:solidFill>
              </a:defRPr>
            </a:lvl2pPr>
            <a:lvl3pPr algn="r">
              <a:buNone/>
              <a:defRPr sz="1125" b="0">
                <a:solidFill>
                  <a:srgbClr val="526676"/>
                </a:solidFill>
              </a:defRPr>
            </a:lvl3pPr>
            <a:lvl4pPr algn="r">
              <a:buNone/>
              <a:defRPr sz="1125" b="0">
                <a:solidFill>
                  <a:srgbClr val="526676"/>
                </a:solidFill>
              </a:defRPr>
            </a:lvl4pPr>
            <a:lvl5pPr algn="r">
              <a:buNone/>
              <a:defRPr sz="1125" b="0">
                <a:solidFill>
                  <a:srgbClr val="526676"/>
                </a:solidFill>
              </a:defRPr>
            </a:lvl5pPr>
            <a:lvl6pPr algn="r">
              <a:buNone/>
              <a:defRPr sz="1125" b="0">
                <a:solidFill>
                  <a:srgbClr val="526676"/>
                </a:solidFill>
              </a:defRPr>
            </a:lvl6pPr>
            <a:lvl7pPr algn="r">
              <a:buNone/>
              <a:defRPr sz="1125" b="0">
                <a:solidFill>
                  <a:srgbClr val="526676"/>
                </a:solidFill>
              </a:defRPr>
            </a:lvl7pPr>
            <a:lvl8pPr algn="r">
              <a:buNone/>
              <a:defRPr sz="1125" b="0">
                <a:solidFill>
                  <a:srgbClr val="526676"/>
                </a:solidFill>
              </a:defRPr>
            </a:lvl8pPr>
            <a:lvl9pPr algn="r">
              <a:buNone/>
              <a:defRPr sz="1125" b="0">
                <a:solidFill>
                  <a:srgbClr val="526676"/>
                </a:solidFill>
              </a:defRPr>
            </a:lvl9pPr>
          </a:lstStyle>
          <a:p xmlns:a="http://schemas.openxmlformats.org/drawingml/2006/main">
            <a:pPr algn="r">
              <a:buNone/>
              <a:defRPr sz="1125" b="0">
                <a:solidFill>
                  <a:srgbClr val="526676"/>
                </a:solidFill>
              </a:defRPr>
            </a:pPr>
            <a:r>
              <a:rPr sz="1125" b="0">
                <a:solidFill>
                  <a:srgbClr val="526676"/>
                </a:solidFill>
              </a:rPr>
              <a:t>3</a:t>
            </a:r>
          </a:p>
        </p:txBody>
      </p:sp>
      <p:sp>
        <p:nvSpPr>
          <p:cNvPr id="3" name="matched-total">
            <a:extLst xmlns:a="http://schemas.openxmlformats.org/drawingml/2006/main">
              <a:ext uri="{FF2B5EF4-FFF2-40B4-BE49-F238E27FC236}">
                <a16:creationId xmlns:a16="http://schemas.microsoft.com/office/drawing/2014/main" id="{7F6704F3-E595-4A1E-B18E-76BCF7DBE83C}"/>
              </a:ext>
            </a:extLst>
          </p:cNvPr>
          <p:cNvSpPr>
            <a:spLocks xmlns:a="http://schemas.openxmlformats.org/drawingml/2006/main" noGrp="1"/>
          </p:cNvSpPr>
          <p:nvPr/>
        </p:nvSpPr>
        <p:spPr>
          <a:xfrm xmlns:a="http://schemas.openxmlformats.org/drawingml/2006/main">
            <a:off x="742950" y="10477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57A72"/>
                </a:solidFill>
              </a:defRPr>
            </a:defPPr>
            <a:lvl1pPr algn="l">
              <a:buNone/>
              <a:defRPr sz="2550" b="1">
                <a:solidFill>
                  <a:srgbClr val="157A72"/>
                </a:solidFill>
              </a:defRPr>
            </a:lvl1pPr>
            <a:lvl2pPr algn="l">
              <a:buNone/>
              <a:defRPr sz="2550" b="1">
                <a:solidFill>
                  <a:srgbClr val="157A72"/>
                </a:solidFill>
              </a:defRPr>
            </a:lvl2pPr>
            <a:lvl3pPr algn="l">
              <a:buNone/>
              <a:defRPr sz="2550" b="1">
                <a:solidFill>
                  <a:srgbClr val="157A72"/>
                </a:solidFill>
              </a:defRPr>
            </a:lvl3pPr>
            <a:lvl4pPr algn="l">
              <a:buNone/>
              <a:defRPr sz="2550" b="1">
                <a:solidFill>
                  <a:srgbClr val="157A72"/>
                </a:solidFill>
              </a:defRPr>
            </a:lvl4pPr>
            <a:lvl5pPr algn="l">
              <a:buNone/>
              <a:defRPr sz="2550" b="1">
                <a:solidFill>
                  <a:srgbClr val="157A72"/>
                </a:solidFill>
              </a:defRPr>
            </a:lvl5pPr>
            <a:lvl6pPr algn="l">
              <a:buNone/>
              <a:defRPr sz="2550" b="1">
                <a:solidFill>
                  <a:srgbClr val="157A72"/>
                </a:solidFill>
              </a:defRPr>
            </a:lvl6pPr>
            <a:lvl7pPr algn="l">
              <a:buNone/>
              <a:defRPr sz="2550" b="1">
                <a:solidFill>
                  <a:srgbClr val="157A72"/>
                </a:solidFill>
              </a:defRPr>
            </a:lvl7pPr>
            <a:lvl8pPr algn="l">
              <a:buNone/>
              <a:defRPr sz="2550" b="1">
                <a:solidFill>
                  <a:srgbClr val="157A72"/>
                </a:solidFill>
              </a:defRPr>
            </a:lvl8pPr>
            <a:lvl9pPr algn="l">
              <a:buNone/>
              <a:defRPr sz="2550" b="1">
                <a:solidFill>
                  <a:srgbClr val="157A72"/>
                </a:solidFill>
              </a:defRPr>
            </a:lvl9pPr>
          </a:lstStyle>
          <a:p xmlns:a="http://schemas.openxmlformats.org/drawingml/2006/main">
            <a:pPr algn="l">
              <a:buNone/>
              <a:defRPr sz="2550" b="1">
                <a:solidFill>
                  <a:srgbClr val="157A72"/>
                </a:solidFill>
              </a:defRPr>
            </a:pPr>
            <a:r>
              <a:rPr sz="2550" b="1">
                <a:solidFill>
                  <a:srgbClr val="157A72"/>
                </a:solidFill>
              </a:rPr>
              <a:t>1,700 paid receipt IDs and amounts match</a:t>
            </a:r>
          </a:p>
        </p:txBody>
      </p:sp>
      <p:sp>
        <p:nvSpPr>
          <p:cNvPr id="4" name="matched-subtitle">
            <a:extLst xmlns:a="http://schemas.openxmlformats.org/drawingml/2006/main">
              <a:ext uri="{FF2B5EF4-FFF2-40B4-BE49-F238E27FC236}">
                <a16:creationId xmlns:a16="http://schemas.microsoft.com/office/drawing/2014/main" id="{1676B1D6-8999-4430-8699-4B00ED6802EA}"/>
              </a:ext>
            </a:extLst>
          </p:cNvPr>
          <p:cNvSpPr>
            <a:spLocks xmlns:a="http://schemas.openxmlformats.org/drawingml/2006/main" noGrp="1"/>
          </p:cNvSpPr>
          <p:nvPr/>
        </p:nvSpPr>
        <p:spPr>
          <a:xfrm xmlns:a="http://schemas.openxmlformats.org/drawingml/2006/main">
            <a:off x="742950" y="15621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243746"/>
                </a:solidFill>
              </a:defRPr>
            </a:defPPr>
            <a:lvl1pPr algn="l">
              <a:buNone/>
              <a:defRPr sz="1800" b="0">
                <a:solidFill>
                  <a:srgbClr val="243746"/>
                </a:solidFill>
              </a:defRPr>
            </a:lvl1pPr>
            <a:lvl2pPr algn="l">
              <a:buNone/>
              <a:defRPr sz="1800" b="0">
                <a:solidFill>
                  <a:srgbClr val="243746"/>
                </a:solidFill>
              </a:defRPr>
            </a:lvl2pPr>
            <a:lvl3pPr algn="l">
              <a:buNone/>
              <a:defRPr sz="1800" b="0">
                <a:solidFill>
                  <a:srgbClr val="243746"/>
                </a:solidFill>
              </a:defRPr>
            </a:lvl3pPr>
            <a:lvl4pPr algn="l">
              <a:buNone/>
              <a:defRPr sz="1800" b="0">
                <a:solidFill>
                  <a:srgbClr val="243746"/>
                </a:solidFill>
              </a:defRPr>
            </a:lvl4pPr>
            <a:lvl5pPr algn="l">
              <a:buNone/>
              <a:defRPr sz="1800" b="0">
                <a:solidFill>
                  <a:srgbClr val="243746"/>
                </a:solidFill>
              </a:defRPr>
            </a:lvl5pPr>
            <a:lvl6pPr algn="l">
              <a:buNone/>
              <a:defRPr sz="1800" b="0">
                <a:solidFill>
                  <a:srgbClr val="243746"/>
                </a:solidFill>
              </a:defRPr>
            </a:lvl6pPr>
            <a:lvl7pPr algn="l">
              <a:buNone/>
              <a:defRPr sz="1800" b="0">
                <a:solidFill>
                  <a:srgbClr val="243746"/>
                </a:solidFill>
              </a:defRPr>
            </a:lvl7pPr>
            <a:lvl8pPr algn="l">
              <a:buNone/>
              <a:defRPr sz="1800" b="0">
                <a:solidFill>
                  <a:srgbClr val="243746"/>
                </a:solidFill>
              </a:defRPr>
            </a:lvl8pPr>
            <a:lvl9pPr algn="l">
              <a:buNone/>
              <a:defRPr sz="1800" b="0">
                <a:solidFill>
                  <a:srgbClr val="243746"/>
                </a:solidFill>
              </a:defRPr>
            </a:lvl9pPr>
          </a:lstStyle>
          <a:p xmlns:a="http://schemas.openxmlformats.org/drawingml/2006/main">
            <a:pPr algn="l">
              <a:buNone/>
              <a:defRPr sz="1800" b="0">
                <a:solidFill>
                  <a:srgbClr val="243746"/>
                </a:solidFill>
              </a:defRPr>
            </a:pPr>
            <a:r>
              <a:rPr sz="1800" b="0">
                <a:solidFill>
                  <a:srgbClr val="243746"/>
                </a:solidFill>
              </a:rPr>
              <a:t>$896,000 of customer deposits across 2024 through March 2026; no unmatched receipts or amount differences.</a:t>
            </a:r>
          </a:p>
        </p:txBody>
      </p:sp>
      <p:graphicFrame>
        <p:nvGraphicFramePr>
          <p:cNvPr id="5" name="">
            <a:extLst xmlns:a="http://schemas.openxmlformats.org/drawingml/2006/main">
              <a:ext uri="{FF2B5EF4-FFF2-40B4-BE49-F238E27FC236}">
                <a16:creationId xmlns:a16="http://schemas.microsoft.com/office/drawing/2014/main" id="{172510A9-3AA7-46EA-9ED4-95C0781437E5}"/>
              </a:ext>
            </a:extLst>
          </p:cNvPr>
          <p:cNvGraphicFramePr/>
          <p:nvPr/>
        </p:nvGraphicFramePr>
        <p:xfrm>
          <a:off xmlns:a="http://schemas.openxmlformats.org/drawingml/2006/main" x="742950" y="2333625"/>
          <a:ext xmlns:a="http://schemas.openxmlformats.org/drawingml/2006/main" cx="10706100" cy="3048000"/>
        </p:xfrm>
        <a:graphic xmlns:a="http://schemas.openxmlformats.org/drawingml/2006/main">
          <a:graphicData uri="http://schemas.openxmlformats.org/drawingml/2006/table">
            <a:tbl>
              <a:tblPr/>
              <a:tblGrid>
                <a:gridCol w="4095750"/>
                <a:gridCol w="6610350"/>
              </a:tblGrid>
              <a:tr h="609600">
                <a:tc>
                  <a:txBody>
                    <a:bodyPr lIns="114300" tIns="47625" rIns="114300" bIns="47625">
                      <a:normAutofit/>
                    </a:bodyPr>
                    <a:lstStyle/>
                    <a:p>
                      <a:pPr algn="l">
                        <a:buNone/>
                      </a:pPr>
                      <a:r>
                        <a:rPr sz="1725" b="1">
                          <a:solidFill>
                            <a:srgbClr val="FFFFFF"/>
                          </a:solidFill>
                        </a:rPr>
                        <a:t>Exception</a:t>
                      </a:r>
                    </a:p>
                  </a:txBody>
                  <a:tcPr marL="91440" marR="91440" marT="45720" marB="45720" anchor="ctr">
                    <a:lnL w="9525">
                      <a:solidFill>
                        <a:srgbClr val="D6DEE3"/>
                      </a:solidFill>
                      <a:prstDash val="solid"/>
                    </a:lnL>
                    <a:lnR w="9525">
                      <a:solidFill>
                        <a:srgbClr val="D6DEE3"/>
                      </a:solidFill>
                      <a:prstDash val="solid"/>
                    </a:lnR>
                    <a:lnT w="9525">
                      <a:solidFill>
                        <a:srgbClr val="D6DEE3"/>
                      </a:solidFill>
                      <a:prstDash val="solid"/>
                    </a:lnT>
                    <a:lnB w="9525">
                      <a:solidFill>
                        <a:srgbClr val="D6DEE3"/>
                      </a:solidFill>
                      <a:prstDash val="solid"/>
                    </a:lnB>
                    <a:solidFill>
                      <a:srgbClr val="15334A"/>
                    </a:solidFill>
                  </a:tcPr>
                </a:tc>
                <a:tc>
                  <a:txBody>
                    <a:bodyPr lIns="114300" tIns="47625" rIns="114300" bIns="47625">
                      <a:normAutofit/>
                    </a:bodyPr>
                    <a:lstStyle/>
                    <a:p>
                      <a:pPr algn="r">
                        <a:buNone/>
                      </a:pPr>
                      <a:r>
                        <a:rPr sz="1725" b="1">
                          <a:solidFill>
                            <a:srgbClr val="FFFFFF"/>
                          </a:solidFill>
                        </a:rPr>
                        <a:t>Record result</a:t>
                      </a:r>
                    </a:p>
                  </a:txBody>
                  <a:tcPr marL="91440" marR="91440" marT="45720" marB="45720" anchor="ctr">
                    <a:lnR w="9525">
                      <a:solidFill>
                        <a:srgbClr val="D6DEE3"/>
                      </a:solidFill>
                      <a:prstDash val="solid"/>
                    </a:lnR>
                    <a:lnT w="9525">
                      <a:solidFill>
                        <a:srgbClr val="D6DEE3"/>
                      </a:solidFill>
                      <a:prstDash val="solid"/>
                    </a:lnT>
                    <a:lnB w="9525">
                      <a:solidFill>
                        <a:srgbClr val="D6DEE3"/>
                      </a:solidFill>
                      <a:prstDash val="solid"/>
                    </a:lnB>
                    <a:solidFill>
                      <a:srgbClr val="15334A"/>
                    </a:solidFill>
                  </a:tcPr>
                </a:tc>
              </a:tr>
              <a:tr h="609600">
                <a:tc>
                  <a:txBody>
                    <a:bodyPr lIns="114300" tIns="47625" rIns="114300" bIns="47625">
                      <a:normAutofit/>
                    </a:bodyPr>
                    <a:lstStyle/>
                    <a:p>
                      <a:pPr algn="l">
                        <a:buNone/>
                      </a:pPr>
                      <a:r>
                        <a:rPr sz="1650" b="0">
                          <a:solidFill>
                            <a:srgbClr val="243746"/>
                          </a:solidFill>
                        </a:rPr>
                        <a:t>Duplicate 2025 invoice copies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FFFFF"/>
                    </a:solidFill>
                  </a:tcPr>
                </a:tc>
                <a:tc>
                  <a:txBody>
                    <a:bodyPr lIns="114300" tIns="47625" rIns="114300" bIns="47625">
                      <a:normAutofit/>
                    </a:bodyPr>
                    <a:lstStyle/>
                    <a:p>
                      <a:pPr algn="r">
                        <a:buNone/>
                      </a:pPr>
                      <a:r>
                        <a:rPr sz="1650" b="0">
                          <a:solidFill>
                            <a:srgbClr val="243746"/>
                          </a:solidFill>
                        </a:rPr>
                        <a:t>$325,000 across 3 repeated IDs</a:t>
                      </a:r>
                    </a:p>
                  </a:txBody>
                  <a:tcPr marL="91440" marR="91440" marT="45720" marB="45720" anchor="ctr">
                    <a:lnR w="9525">
                      <a:solidFill>
                        <a:srgbClr val="D6DEE3"/>
                      </a:solidFill>
                      <a:prstDash val="solid"/>
                    </a:lnR>
                    <a:lnB w="9525">
                      <a:solidFill>
                        <a:srgbClr val="D6DEE3"/>
                      </a:solidFill>
                      <a:prstDash val="solid"/>
                    </a:lnB>
                    <a:solidFill>
                      <a:srgbClr val="FFFFFF"/>
                    </a:solidFill>
                  </a:tcPr>
                </a:tc>
              </a:tr>
              <a:tr h="609600">
                <a:tc>
                  <a:txBody>
                    <a:bodyPr lIns="114300" tIns="47625" rIns="114300" bIns="47625">
                      <a:normAutofit/>
                    </a:bodyPr>
                    <a:lstStyle/>
                    <a:p>
                      <a:pPr algn="l">
                        <a:buNone/>
                      </a:pPr>
                      <a:r>
                        <a:rPr sz="1650" b="0">
                          <a:solidFill>
                            <a:srgbClr val="243746"/>
                          </a:solidFill>
                        </a:rPr>
                        <a:t>Open Bright Foods invoices</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4F7F8"/>
                    </a:solidFill>
                  </a:tcPr>
                </a:tc>
                <a:tc>
                  <a:txBody>
                    <a:bodyPr lIns="114300" tIns="47625" rIns="114300" bIns="47625">
                      <a:normAutofit/>
                    </a:bodyPr>
                    <a:lstStyle/>
                    <a:p>
                      <a:pPr algn="r">
                        <a:buNone/>
                      </a:pPr>
                      <a:r>
                        <a:rPr sz="1650" b="0">
                          <a:solidFill>
                            <a:srgbClr val="243746"/>
                          </a:solidFill>
                        </a:rPr>
                        <a:t>$85,000 across 3 invoices</a:t>
                      </a:r>
                    </a:p>
                  </a:txBody>
                  <a:tcPr marL="91440" marR="91440" marT="45720" marB="45720" anchor="ctr">
                    <a:lnR w="9525">
                      <a:solidFill>
                        <a:srgbClr val="D6DEE3"/>
                      </a:solidFill>
                      <a:prstDash val="solid"/>
                    </a:lnR>
                    <a:lnB w="9525">
                      <a:solidFill>
                        <a:srgbClr val="D6DEE3"/>
                      </a:solidFill>
                      <a:prstDash val="solid"/>
                    </a:lnB>
                    <a:solidFill>
                      <a:srgbClr val="F4F7F8"/>
                    </a:solidFill>
                  </a:tcPr>
                </a:tc>
              </a:tr>
              <a:tr h="609600">
                <a:tc>
                  <a:txBody>
                    <a:bodyPr lIns="114300" tIns="47625" rIns="114300" bIns="47625">
                      <a:normAutofit/>
                    </a:bodyPr>
                    <a:lstStyle/>
                    <a:p>
                      <a:pPr algn="l">
                        <a:buNone/>
                      </a:pPr>
                      <a:r>
                        <a:rPr sz="1650" b="0">
                          <a:solidFill>
                            <a:srgbClr val="243746"/>
                          </a:solidFill>
                        </a:rPr>
                        <a:t>Late Riverside payment</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FFFFF"/>
                    </a:solidFill>
                  </a:tcPr>
                </a:tc>
                <a:tc>
                  <a:txBody>
                    <a:bodyPr lIns="114300" tIns="47625" rIns="114300" bIns="47625">
                      <a:normAutofit/>
                    </a:bodyPr>
                    <a:lstStyle/>
                    <a:p>
                      <a:pPr algn="r">
                        <a:buNone/>
                      </a:pPr>
                      <a:r>
                        <a:rPr sz="1650" b="0">
                          <a:solidFill>
                            <a:srgbClr val="243746"/>
                          </a:solidFill>
                        </a:rPr>
                        <a:t>$40,000, received 62 days after invoice</a:t>
                      </a:r>
                    </a:p>
                  </a:txBody>
                  <a:tcPr marL="91440" marR="91440" marT="45720" marB="45720" anchor="ctr">
                    <a:lnR w="9525">
                      <a:solidFill>
                        <a:srgbClr val="D6DEE3"/>
                      </a:solidFill>
                      <a:prstDash val="solid"/>
                    </a:lnR>
                    <a:lnB w="9525">
                      <a:solidFill>
                        <a:srgbClr val="D6DEE3"/>
                      </a:solidFill>
                      <a:prstDash val="solid"/>
                    </a:lnB>
                    <a:solidFill>
                      <a:srgbClr val="FFFFFF"/>
                    </a:solidFill>
                  </a:tcPr>
                </a:tc>
              </a:tr>
              <a:tr h="609600">
                <a:tc>
                  <a:txBody>
                    <a:bodyPr lIns="114300" tIns="47625" rIns="114300" bIns="47625">
                      <a:normAutofit/>
                    </a:bodyPr>
                    <a:lstStyle/>
                    <a:p>
                      <a:pPr algn="l">
                        <a:buNone/>
                      </a:pPr>
                      <a:r>
                        <a:rPr sz="1650" b="0">
                          <a:solidFill>
                            <a:srgbClr val="243746"/>
                          </a:solidFill>
                        </a:rPr>
                        <a:t>Earlier $325,000 status gap</a:t>
                      </a:r>
                    </a:p>
                  </a:txBody>
                  <a:tcPr marL="91440" marR="91440" marT="45720" marB="45720" anchor="ctr">
                    <a:lnL w="9525">
                      <a:solidFill>
                        <a:srgbClr val="D6DEE3"/>
                      </a:solidFill>
                      <a:prstDash val="solid"/>
                    </a:lnL>
                    <a:lnR w="9525">
                      <a:solidFill>
                        <a:srgbClr val="D6DEE3"/>
                      </a:solidFill>
                      <a:prstDash val="solid"/>
                    </a:lnR>
                    <a:lnB w="9525">
                      <a:solidFill>
                        <a:srgbClr val="D6DEE3"/>
                      </a:solidFill>
                      <a:prstDash val="solid"/>
                    </a:lnB>
                    <a:solidFill>
                      <a:srgbClr val="F4F7F8"/>
                    </a:solidFill>
                  </a:tcPr>
                </a:tc>
                <a:tc>
                  <a:txBody>
                    <a:bodyPr lIns="114300" tIns="47625" rIns="114300" bIns="47625">
                      <a:normAutofit/>
                    </a:bodyPr>
                    <a:lstStyle/>
                    <a:p>
                      <a:pPr algn="r">
                        <a:buNone/>
                      </a:pPr>
                      <a:r>
                        <a:rPr sz="1650" b="0">
                          <a:solidFill>
                            <a:srgbClr val="243746"/>
                          </a:solidFill>
                        </a:rPr>
                        <a:t>Explained by duplicate invoice rows</a:t>
                      </a:r>
                    </a:p>
                  </a:txBody>
                  <a:tcPr marL="91440" marR="91440" marT="45720" marB="45720" anchor="ctr">
                    <a:lnR w="9525">
                      <a:solidFill>
                        <a:srgbClr val="D6DEE3"/>
                      </a:solidFill>
                      <a:prstDash val="solid"/>
                    </a:lnR>
                    <a:lnB w="9525">
                      <a:solidFill>
                        <a:srgbClr val="D6DEE3"/>
                      </a:solidFill>
                      <a:prstDash val="solid"/>
                    </a:lnB>
                    <a:solidFill>
                      <a:srgbClr val="F4F7F8"/>
                    </a:solidFill>
                  </a:tcPr>
                </a:tc>
              </a:tr>
            </a:tbl>
          </a:graphicData>
        </a:graphic>
      </p:graphicFrame>
      <p:sp>
        <p:nvSpPr>
          <p:cNvPr id="6" name="duplicate-examples">
            <a:extLst xmlns:a="http://schemas.openxmlformats.org/drawingml/2006/main">
              <a:ext uri="{FF2B5EF4-FFF2-40B4-BE49-F238E27FC236}">
                <a16:creationId xmlns:a16="http://schemas.microsoft.com/office/drawing/2014/main" id="{27831CA9-0F46-4A62-A4F5-CA8948BF98F1}"/>
              </a:ext>
            </a:extLst>
          </p:cNvPr>
          <p:cNvSpPr>
            <a:spLocks xmlns:a="http://schemas.openxmlformats.org/drawingml/2006/main" noGrp="1"/>
          </p:cNvSpPr>
          <p:nvPr/>
        </p:nvSpPr>
        <p:spPr>
          <a:xfrm xmlns:a="http://schemas.openxmlformats.org/drawingml/2006/main">
            <a:off x="762000" y="5638800"/>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243746"/>
                </a:solidFill>
              </a:defRPr>
            </a:defPPr>
            <a:lvl1pPr algn="l">
              <a:buNone/>
              <a:defRPr sz="1500" b="0">
                <a:solidFill>
                  <a:srgbClr val="243746"/>
                </a:solidFill>
              </a:defRPr>
            </a:lvl1pPr>
            <a:lvl2pPr algn="l">
              <a:buNone/>
              <a:defRPr sz="1500" b="0">
                <a:solidFill>
                  <a:srgbClr val="243746"/>
                </a:solidFill>
              </a:defRPr>
            </a:lvl2pPr>
            <a:lvl3pPr algn="l">
              <a:buNone/>
              <a:defRPr sz="1500" b="0">
                <a:solidFill>
                  <a:srgbClr val="243746"/>
                </a:solidFill>
              </a:defRPr>
            </a:lvl3pPr>
            <a:lvl4pPr algn="l">
              <a:buNone/>
              <a:defRPr sz="1500" b="0">
                <a:solidFill>
                  <a:srgbClr val="243746"/>
                </a:solidFill>
              </a:defRPr>
            </a:lvl4pPr>
            <a:lvl5pPr algn="l">
              <a:buNone/>
              <a:defRPr sz="1500" b="0">
                <a:solidFill>
                  <a:srgbClr val="243746"/>
                </a:solidFill>
              </a:defRPr>
            </a:lvl5pPr>
            <a:lvl6pPr algn="l">
              <a:buNone/>
              <a:defRPr sz="1500" b="0">
                <a:solidFill>
                  <a:srgbClr val="243746"/>
                </a:solidFill>
              </a:defRPr>
            </a:lvl6pPr>
            <a:lvl7pPr algn="l">
              <a:buNone/>
              <a:defRPr sz="1500" b="0">
                <a:solidFill>
                  <a:srgbClr val="243746"/>
                </a:solidFill>
              </a:defRPr>
            </a:lvl7pPr>
            <a:lvl8pPr algn="l">
              <a:buNone/>
              <a:defRPr sz="1500" b="0">
                <a:solidFill>
                  <a:srgbClr val="243746"/>
                </a:solidFill>
              </a:defRPr>
            </a:lvl8pPr>
            <a:lvl9pPr algn="l">
              <a:buNone/>
              <a:defRPr sz="1500" b="0">
                <a:solidFill>
                  <a:srgbClr val="243746"/>
                </a:solidFill>
              </a:defRPr>
            </a:lvl9pPr>
          </a:lstStyle>
          <a:p xmlns:a="http://schemas.openxmlformats.org/drawingml/2006/main">
            <a:pPr algn="l">
              <a:buNone/>
              <a:defRPr sz="1500" b="0">
                <a:solidFill>
                  <a:srgbClr val="243746"/>
                </a:solidFill>
              </a:defRPr>
            </a:pPr>
            <a:r>
              <a:rPr sz="1500" b="0">
                <a:solidFill>
                  <a:srgbClr val="243746"/>
                </a:solidFill>
              </a:rPr>
              <a:t>Repeated IDs: NC-2025-0074 ($100K), NC-2025-0327 ($110K), NC-2025-0801 ($115K).</a:t>
            </a:r>
          </a:p>
        </p:txBody>
      </p:sp>
      <p:sp>
        <p:nvSpPr>
          <p:cNvPr id="7" name="source-footer">
            <a:extLst xmlns:a="http://schemas.openxmlformats.org/drawingml/2006/main">
              <a:ext uri="{FF2B5EF4-FFF2-40B4-BE49-F238E27FC236}">
                <a16:creationId xmlns:a16="http://schemas.microsoft.com/office/drawing/2014/main" id="{6DC6E3B9-E200-4C7F-8A31-964A848A5E74}"/>
              </a:ext>
            </a:extLst>
          </p:cNvPr>
          <p:cNvSpPr>
            <a:spLocks xmlns:a="http://schemas.openxmlformats.org/drawingml/2006/main" noGrp="1"/>
          </p:cNvSpPr>
          <p:nvPr/>
        </p:nvSpPr>
        <p:spPr>
          <a:xfrm xmlns:a="http://schemas.openxmlformats.org/drawingml/2006/main">
            <a:off x="685800" y="6419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26676"/>
                </a:solidFill>
              </a:defRPr>
            </a:defPPr>
            <a:lvl1pPr algn="l">
              <a:buNone/>
              <a:defRPr sz="1125" b="0">
                <a:solidFill>
                  <a:srgbClr val="526676"/>
                </a:solidFill>
              </a:defRPr>
            </a:lvl1pPr>
            <a:lvl2pPr algn="l">
              <a:buNone/>
              <a:defRPr sz="1125" b="0">
                <a:solidFill>
                  <a:srgbClr val="526676"/>
                </a:solidFill>
              </a:defRPr>
            </a:lvl2pPr>
            <a:lvl3pPr algn="l">
              <a:buNone/>
              <a:defRPr sz="1125" b="0">
                <a:solidFill>
                  <a:srgbClr val="526676"/>
                </a:solidFill>
              </a:defRPr>
            </a:lvl3pPr>
            <a:lvl4pPr algn="l">
              <a:buNone/>
              <a:defRPr sz="1125" b="0">
                <a:solidFill>
                  <a:srgbClr val="526676"/>
                </a:solidFill>
              </a:defRPr>
            </a:lvl4pPr>
            <a:lvl5pPr algn="l">
              <a:buNone/>
              <a:defRPr sz="1125" b="0">
                <a:solidFill>
                  <a:srgbClr val="526676"/>
                </a:solidFill>
              </a:defRPr>
            </a:lvl5pPr>
            <a:lvl6pPr algn="l">
              <a:buNone/>
              <a:defRPr sz="1125" b="0">
                <a:solidFill>
                  <a:srgbClr val="526676"/>
                </a:solidFill>
              </a:defRPr>
            </a:lvl6pPr>
            <a:lvl7pPr algn="l">
              <a:buNone/>
              <a:defRPr sz="1125" b="0">
                <a:solidFill>
                  <a:srgbClr val="526676"/>
                </a:solidFill>
              </a:defRPr>
            </a:lvl7pPr>
            <a:lvl8pPr algn="l">
              <a:buNone/>
              <a:defRPr sz="1125" b="0">
                <a:solidFill>
                  <a:srgbClr val="526676"/>
                </a:solidFill>
              </a:defRPr>
            </a:lvl8pPr>
            <a:lvl9pPr algn="l">
              <a:buNone/>
              <a:defRPr sz="1125" b="0">
                <a:solidFill>
                  <a:srgbClr val="526676"/>
                </a:solidFill>
              </a:defRPr>
            </a:lvl9pPr>
          </a:lstStyle>
          <a:p xmlns:a="http://schemas.openxmlformats.org/drawingml/2006/main">
            <a:pPr algn="l">
              <a:buNone/>
              <a:defRPr sz="1125" b="0">
                <a:solidFill>
                  <a:srgbClr val="526676"/>
                </a:solidFill>
              </a:defRPr>
            </a:pPr>
            <a:r>
              <a:rPr sz="1125" b="0">
                <a:solidFill>
                  <a:srgbClr val="526676"/>
                </a:solidFill>
              </a:rPr>
              <a:t>Sources: inputs/invoices.csv, inputs/bank.csv | Row-level match: Accountant handoff</a:t>
            </a:r>
          </a:p>
        </p:txBody>
      </p:sp>
    </p:spTree>
    <p:extLst>
      <p:ext uri="{BB962C8B-B14F-4D97-AF65-F5344CB8AC3E}">
        <p14:creationId xmlns:p14="http://schemas.microsoft.com/office/powerpoint/2010/main" val="9292382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2D2D084-17F7-4BD5-A959-EB0918C9167E}"/>
              </a:ext>
            </a:extLst>
          </p:cNvPr>
          <p:cNvSpPr>
            <a:spLocks xmlns:a="http://schemas.openxmlformats.org/drawingml/2006/main" noGrp="1"/>
          </p:cNvSpPr>
          <p:nvPr/>
        </p:nvSpPr>
        <p:spPr>
          <a:xfrm xmlns:a="http://schemas.openxmlformats.org/drawingml/2006/main">
            <a:off x="685800" y="342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334A"/>
                </a:solidFill>
              </a:defRPr>
            </a:defPPr>
            <a:lvl1pPr algn="l">
              <a:buNone/>
              <a:defRPr sz="3450" b="1">
                <a:solidFill>
                  <a:srgbClr val="15334A"/>
                </a:solidFill>
              </a:defRPr>
            </a:lvl1pPr>
            <a:lvl2pPr algn="l">
              <a:buNone/>
              <a:defRPr sz="3450" b="1">
                <a:solidFill>
                  <a:srgbClr val="15334A"/>
                </a:solidFill>
              </a:defRPr>
            </a:lvl2pPr>
            <a:lvl3pPr algn="l">
              <a:buNone/>
              <a:defRPr sz="3450" b="1">
                <a:solidFill>
                  <a:srgbClr val="15334A"/>
                </a:solidFill>
              </a:defRPr>
            </a:lvl3pPr>
            <a:lvl4pPr algn="l">
              <a:buNone/>
              <a:defRPr sz="3450" b="1">
                <a:solidFill>
                  <a:srgbClr val="15334A"/>
                </a:solidFill>
              </a:defRPr>
            </a:lvl4pPr>
            <a:lvl5pPr algn="l">
              <a:buNone/>
              <a:defRPr sz="3450" b="1">
                <a:solidFill>
                  <a:srgbClr val="15334A"/>
                </a:solidFill>
              </a:defRPr>
            </a:lvl5pPr>
            <a:lvl6pPr algn="l">
              <a:buNone/>
              <a:defRPr sz="3450" b="1">
                <a:solidFill>
                  <a:srgbClr val="15334A"/>
                </a:solidFill>
              </a:defRPr>
            </a:lvl6pPr>
            <a:lvl7pPr algn="l">
              <a:buNone/>
              <a:defRPr sz="3450" b="1">
                <a:solidFill>
                  <a:srgbClr val="15334A"/>
                </a:solidFill>
              </a:defRPr>
            </a:lvl7pPr>
            <a:lvl8pPr algn="l">
              <a:buNone/>
              <a:defRPr sz="3450" b="1">
                <a:solidFill>
                  <a:srgbClr val="15334A"/>
                </a:solidFill>
              </a:defRPr>
            </a:lvl8pPr>
            <a:lvl9pPr algn="l">
              <a:buNone/>
              <a:defRPr sz="3450" b="1">
                <a:solidFill>
                  <a:srgbClr val="15334A"/>
                </a:solidFill>
              </a:defRPr>
            </a:lvl9pPr>
          </a:lstStyle>
          <a:p xmlns:a="http://schemas.openxmlformats.org/drawingml/2006/main">
            <a:pPr algn="l">
              <a:buNone/>
              <a:defRPr sz="3450" b="1">
                <a:solidFill>
                  <a:srgbClr val="15334A"/>
                </a:solidFill>
              </a:defRPr>
            </a:pPr>
            <a:r>
              <a:rPr sz="3450" b="1">
                <a:solidFill>
                  <a:srgbClr val="15334A"/>
                </a:solidFill>
              </a:rPr>
              <a:t>Operating costs outpaced revenue</a:t>
            </a:r>
          </a:p>
        </p:txBody>
      </p:sp>
      <p:sp>
        <p:nvSpPr>
          <p:cNvPr id="2" name="page-number">
            <a:extLst xmlns:a="http://schemas.openxmlformats.org/drawingml/2006/main">
              <a:ext uri="{FF2B5EF4-FFF2-40B4-BE49-F238E27FC236}">
                <a16:creationId xmlns:a16="http://schemas.microsoft.com/office/drawing/2014/main" id="{6AC5A27C-B80E-49FE-8100-DEF42EEB0636}"/>
              </a:ext>
            </a:extLst>
          </p:cNvPr>
          <p:cNvSpPr>
            <a:spLocks xmlns:a="http://schemas.openxmlformats.org/drawingml/2006/main" noGrp="1"/>
          </p:cNvSpPr>
          <p:nvPr/>
        </p:nvSpPr>
        <p:spPr>
          <a:xfrm xmlns:a="http://schemas.openxmlformats.org/drawingml/2006/main">
            <a:off x="11277600" y="64389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25" b="0">
                <a:solidFill>
                  <a:srgbClr val="526676"/>
                </a:solidFill>
              </a:defRPr>
            </a:defPPr>
            <a:lvl1pPr algn="r">
              <a:buNone/>
              <a:defRPr sz="1125" b="0">
                <a:solidFill>
                  <a:srgbClr val="526676"/>
                </a:solidFill>
              </a:defRPr>
            </a:lvl1pPr>
            <a:lvl2pPr algn="r">
              <a:buNone/>
              <a:defRPr sz="1125" b="0">
                <a:solidFill>
                  <a:srgbClr val="526676"/>
                </a:solidFill>
              </a:defRPr>
            </a:lvl2pPr>
            <a:lvl3pPr algn="r">
              <a:buNone/>
              <a:defRPr sz="1125" b="0">
                <a:solidFill>
                  <a:srgbClr val="526676"/>
                </a:solidFill>
              </a:defRPr>
            </a:lvl3pPr>
            <a:lvl4pPr algn="r">
              <a:buNone/>
              <a:defRPr sz="1125" b="0">
                <a:solidFill>
                  <a:srgbClr val="526676"/>
                </a:solidFill>
              </a:defRPr>
            </a:lvl4pPr>
            <a:lvl5pPr algn="r">
              <a:buNone/>
              <a:defRPr sz="1125" b="0">
                <a:solidFill>
                  <a:srgbClr val="526676"/>
                </a:solidFill>
              </a:defRPr>
            </a:lvl5pPr>
            <a:lvl6pPr algn="r">
              <a:buNone/>
              <a:defRPr sz="1125" b="0">
                <a:solidFill>
                  <a:srgbClr val="526676"/>
                </a:solidFill>
              </a:defRPr>
            </a:lvl6pPr>
            <a:lvl7pPr algn="r">
              <a:buNone/>
              <a:defRPr sz="1125" b="0">
                <a:solidFill>
                  <a:srgbClr val="526676"/>
                </a:solidFill>
              </a:defRPr>
            </a:lvl7pPr>
            <a:lvl8pPr algn="r">
              <a:buNone/>
              <a:defRPr sz="1125" b="0">
                <a:solidFill>
                  <a:srgbClr val="526676"/>
                </a:solidFill>
              </a:defRPr>
            </a:lvl8pPr>
            <a:lvl9pPr algn="r">
              <a:buNone/>
              <a:defRPr sz="1125" b="0">
                <a:solidFill>
                  <a:srgbClr val="526676"/>
                </a:solidFill>
              </a:defRPr>
            </a:lvl9pPr>
          </a:lstStyle>
          <a:p xmlns:a="http://schemas.openxmlformats.org/drawingml/2006/main">
            <a:pPr algn="r">
              <a:buNone/>
              <a:defRPr sz="1125" b="0">
                <a:solidFill>
                  <a:srgbClr val="526676"/>
                </a:solidFill>
              </a:defRPr>
            </a:pPr>
            <a:r>
              <a:rPr sz="1125" b="0">
                <a:solidFill>
                  <a:srgbClr val="526676"/>
                </a:solidFill>
              </a:rPr>
              <a:t>4</a:t>
            </a:r>
          </a:p>
        </p:txBody>
      </p:sp>
      <p:sp>
        <p:nvSpPr>
          <p:cNvPr id="3" name="chart-context">
            <a:extLst xmlns:a="http://schemas.openxmlformats.org/drawingml/2006/main">
              <a:ext uri="{FF2B5EF4-FFF2-40B4-BE49-F238E27FC236}">
                <a16:creationId xmlns:a16="http://schemas.microsoft.com/office/drawing/2014/main" id="{62876F6E-726E-4456-8031-7768046D3F46}"/>
              </a:ext>
            </a:extLst>
          </p:cNvPr>
          <p:cNvSpPr>
            <a:spLocks xmlns:a="http://schemas.openxmlformats.org/drawingml/2006/main" noGrp="1"/>
          </p:cNvSpPr>
          <p:nvPr/>
        </p:nvSpPr>
        <p:spPr>
          <a:xfrm xmlns:a="http://schemas.openxmlformats.org/drawingml/2006/main">
            <a:off x="742950" y="10096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526676"/>
                </a:solidFill>
              </a:defRPr>
            </a:defPPr>
            <a:lvl1pPr algn="l">
              <a:buNone/>
              <a:defRPr sz="1800" b="0">
                <a:solidFill>
                  <a:srgbClr val="526676"/>
                </a:solidFill>
              </a:defRPr>
            </a:lvl1pPr>
            <a:lvl2pPr algn="l">
              <a:buNone/>
              <a:defRPr sz="1800" b="0">
                <a:solidFill>
                  <a:srgbClr val="526676"/>
                </a:solidFill>
              </a:defRPr>
            </a:lvl2pPr>
            <a:lvl3pPr algn="l">
              <a:buNone/>
              <a:defRPr sz="1800" b="0">
                <a:solidFill>
                  <a:srgbClr val="526676"/>
                </a:solidFill>
              </a:defRPr>
            </a:lvl3pPr>
            <a:lvl4pPr algn="l">
              <a:buNone/>
              <a:defRPr sz="1800" b="0">
                <a:solidFill>
                  <a:srgbClr val="526676"/>
                </a:solidFill>
              </a:defRPr>
            </a:lvl4pPr>
            <a:lvl5pPr algn="l">
              <a:buNone/>
              <a:defRPr sz="1800" b="0">
                <a:solidFill>
                  <a:srgbClr val="526676"/>
                </a:solidFill>
              </a:defRPr>
            </a:lvl5pPr>
            <a:lvl6pPr algn="l">
              <a:buNone/>
              <a:defRPr sz="1800" b="0">
                <a:solidFill>
                  <a:srgbClr val="526676"/>
                </a:solidFill>
              </a:defRPr>
            </a:lvl6pPr>
            <a:lvl7pPr algn="l">
              <a:buNone/>
              <a:defRPr sz="1800" b="0">
                <a:solidFill>
                  <a:srgbClr val="526676"/>
                </a:solidFill>
              </a:defRPr>
            </a:lvl7pPr>
            <a:lvl8pPr algn="l">
              <a:buNone/>
              <a:defRPr sz="1800" b="0">
                <a:solidFill>
                  <a:srgbClr val="526676"/>
                </a:solidFill>
              </a:defRPr>
            </a:lvl8pPr>
            <a:lvl9pPr algn="l">
              <a:buNone/>
              <a:defRPr sz="1800" b="0">
                <a:solidFill>
                  <a:srgbClr val="526676"/>
                </a:solidFill>
              </a:defRPr>
            </a:lvl9pPr>
          </a:lstStyle>
          <a:p xmlns:a="http://schemas.openxmlformats.org/drawingml/2006/main">
            <a:pPr algn="l">
              <a:buNone/>
              <a:defRPr sz="1800" b="0">
                <a:solidFill>
                  <a:srgbClr val="526676"/>
                </a:solidFill>
              </a:defRPr>
            </a:pPr>
            <a:r>
              <a:rPr sz="1800" b="0">
                <a:solidFill>
                  <a:srgbClr val="526676"/>
                </a:solidFill>
              </a:rPr>
              <a:t>Net revenue and operating costs | USD thousands</a:t>
            </a:r>
          </a:p>
        </p:txBody>
      </p:sp>
      <p:sp>
        <p:nvSpPr>
          <p:cNvPr id="5" name="loss-callout">
            <a:extLst xmlns:a="http://schemas.openxmlformats.org/drawingml/2006/main">
              <a:ext uri="{FF2B5EF4-FFF2-40B4-BE49-F238E27FC236}">
                <a16:creationId xmlns:a16="http://schemas.microsoft.com/office/drawing/2014/main" id="{19DC431F-63B2-472C-9453-DDE893EE5EA7}"/>
              </a:ext>
            </a:extLst>
          </p:cNvPr>
          <p:cNvSpPr>
            <a:spLocks xmlns:a="http://schemas.openxmlformats.org/drawingml/2006/main" noGrp="1"/>
          </p:cNvSpPr>
          <p:nvPr/>
        </p:nvSpPr>
        <p:spPr>
          <a:xfrm xmlns:a="http://schemas.openxmlformats.org/drawingml/2006/main">
            <a:off x="762000" y="525780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B7533E"/>
                </a:solidFill>
              </a:defRPr>
            </a:defPPr>
            <a:lvl1pPr algn="l">
              <a:buNone/>
              <a:defRPr sz="1725" b="1">
                <a:solidFill>
                  <a:srgbClr val="B7533E"/>
                </a:solidFill>
              </a:defRPr>
            </a:lvl1pPr>
            <a:lvl2pPr algn="l">
              <a:buNone/>
              <a:defRPr sz="1725" b="1">
                <a:solidFill>
                  <a:srgbClr val="B7533E"/>
                </a:solidFill>
              </a:defRPr>
            </a:lvl2pPr>
            <a:lvl3pPr algn="l">
              <a:buNone/>
              <a:defRPr sz="1725" b="1">
                <a:solidFill>
                  <a:srgbClr val="B7533E"/>
                </a:solidFill>
              </a:defRPr>
            </a:lvl3pPr>
            <a:lvl4pPr algn="l">
              <a:buNone/>
              <a:defRPr sz="1725" b="1">
                <a:solidFill>
                  <a:srgbClr val="B7533E"/>
                </a:solidFill>
              </a:defRPr>
            </a:lvl4pPr>
            <a:lvl5pPr algn="l">
              <a:buNone/>
              <a:defRPr sz="1725" b="1">
                <a:solidFill>
                  <a:srgbClr val="B7533E"/>
                </a:solidFill>
              </a:defRPr>
            </a:lvl5pPr>
            <a:lvl6pPr algn="l">
              <a:buNone/>
              <a:defRPr sz="1725" b="1">
                <a:solidFill>
                  <a:srgbClr val="B7533E"/>
                </a:solidFill>
              </a:defRPr>
            </a:lvl6pPr>
            <a:lvl7pPr algn="l">
              <a:buNone/>
              <a:defRPr sz="1725" b="1">
                <a:solidFill>
                  <a:srgbClr val="B7533E"/>
                </a:solidFill>
              </a:defRPr>
            </a:lvl7pPr>
            <a:lvl8pPr algn="l">
              <a:buNone/>
              <a:defRPr sz="1725" b="1">
                <a:solidFill>
                  <a:srgbClr val="B7533E"/>
                </a:solidFill>
              </a:defRPr>
            </a:lvl8pPr>
            <a:lvl9pPr algn="l">
              <a:buNone/>
              <a:defRPr sz="1725" b="1">
                <a:solidFill>
                  <a:srgbClr val="B7533E"/>
                </a:solidFill>
              </a:defRPr>
            </a:lvl9pPr>
          </a:lstStyle>
          <a:p xmlns:a="http://schemas.openxmlformats.org/drawingml/2006/main">
            <a:pPr algn="l">
              <a:buNone/>
              <a:defRPr sz="1725" b="1">
                <a:solidFill>
                  <a:srgbClr val="B7533E"/>
                </a:solidFill>
              </a:defRPr>
            </a:pPr>
            <a:r>
              <a:rPr sz="1725" b="1">
                <a:solidFill>
                  <a:srgbClr val="B7533E"/>
                </a:solidFill>
              </a:rPr>
              <a:t>Operating loss widened from $30,000 to $90,000; margin fell from -10.0% to -17.3%.</a:t>
            </a:r>
          </a:p>
        </p:txBody>
      </p:sp>
      <p:sp>
        <p:nvSpPr>
          <p:cNvPr id="6" name="quarter-detail">
            <a:extLst xmlns:a="http://schemas.openxmlformats.org/drawingml/2006/main">
              <a:ext uri="{FF2B5EF4-FFF2-40B4-BE49-F238E27FC236}">
                <a16:creationId xmlns:a16="http://schemas.microsoft.com/office/drawing/2014/main" id="{28A3894D-418C-49BE-B943-B19137D2E103}"/>
              </a:ext>
            </a:extLst>
          </p:cNvPr>
          <p:cNvSpPr>
            <a:spLocks xmlns:a="http://schemas.openxmlformats.org/drawingml/2006/main" noGrp="1"/>
          </p:cNvSpPr>
          <p:nvPr/>
        </p:nvSpPr>
        <p:spPr>
          <a:xfrm xmlns:a="http://schemas.openxmlformats.org/drawingml/2006/main">
            <a:off x="762000" y="57531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243746"/>
                </a:solidFill>
              </a:defRPr>
            </a:defPPr>
            <a:lvl1pPr algn="l">
              <a:buNone/>
              <a:defRPr sz="1575" b="0">
                <a:solidFill>
                  <a:srgbClr val="243746"/>
                </a:solidFill>
              </a:defRPr>
            </a:lvl1pPr>
            <a:lvl2pPr algn="l">
              <a:buNone/>
              <a:defRPr sz="1575" b="0">
                <a:solidFill>
                  <a:srgbClr val="243746"/>
                </a:solidFill>
              </a:defRPr>
            </a:lvl2pPr>
            <a:lvl3pPr algn="l">
              <a:buNone/>
              <a:defRPr sz="1575" b="0">
                <a:solidFill>
                  <a:srgbClr val="243746"/>
                </a:solidFill>
              </a:defRPr>
            </a:lvl3pPr>
            <a:lvl4pPr algn="l">
              <a:buNone/>
              <a:defRPr sz="1575" b="0">
                <a:solidFill>
                  <a:srgbClr val="243746"/>
                </a:solidFill>
              </a:defRPr>
            </a:lvl4pPr>
            <a:lvl5pPr algn="l">
              <a:buNone/>
              <a:defRPr sz="1575" b="0">
                <a:solidFill>
                  <a:srgbClr val="243746"/>
                </a:solidFill>
              </a:defRPr>
            </a:lvl5pPr>
            <a:lvl6pPr algn="l">
              <a:buNone/>
              <a:defRPr sz="1575" b="0">
                <a:solidFill>
                  <a:srgbClr val="243746"/>
                </a:solidFill>
              </a:defRPr>
            </a:lvl6pPr>
            <a:lvl7pPr algn="l">
              <a:buNone/>
              <a:defRPr sz="1575" b="0">
                <a:solidFill>
                  <a:srgbClr val="243746"/>
                </a:solidFill>
              </a:defRPr>
            </a:lvl7pPr>
            <a:lvl8pPr algn="l">
              <a:buNone/>
              <a:defRPr sz="1575" b="0">
                <a:solidFill>
                  <a:srgbClr val="243746"/>
                </a:solidFill>
              </a:defRPr>
            </a:lvl8pPr>
            <a:lvl9pPr algn="l">
              <a:buNone/>
              <a:defRPr sz="1575" b="0">
                <a:solidFill>
                  <a:srgbClr val="243746"/>
                </a:solidFill>
              </a:defRPr>
            </a:lvl9pPr>
          </a:lstStyle>
          <a:p xmlns:a="http://schemas.openxmlformats.org/drawingml/2006/main">
            <a:pPr algn="l">
              <a:buNone/>
              <a:defRPr sz="1575" b="0">
                <a:solidFill>
                  <a:srgbClr val="243746"/>
                </a:solidFill>
              </a:defRPr>
            </a:pPr>
            <a:r>
              <a:rPr sz="1575" b="0">
                <a:solidFill>
                  <a:srgbClr val="243746"/>
                </a:solidFill>
              </a:rPr>
              <a:t>2025 quarterly result: Q1 +$28,917 | Q2 +$8,765 | Q3 ($1,387) | Q4 ($126,295)</a:t>
            </a:r>
          </a:p>
        </p:txBody>
      </p:sp>
      <p:sp>
        <p:nvSpPr>
          <p:cNvPr id="7" name="source-footer">
            <a:extLst xmlns:a="http://schemas.openxmlformats.org/drawingml/2006/main">
              <a:ext uri="{FF2B5EF4-FFF2-40B4-BE49-F238E27FC236}">
                <a16:creationId xmlns:a16="http://schemas.microsoft.com/office/drawing/2014/main" id="{5B8B369F-C8F5-4B66-8E4C-5892A67FD47D}"/>
              </a:ext>
            </a:extLst>
          </p:cNvPr>
          <p:cNvSpPr>
            <a:spLocks xmlns:a="http://schemas.openxmlformats.org/drawingml/2006/main" noGrp="1"/>
          </p:cNvSpPr>
          <p:nvPr/>
        </p:nvSpPr>
        <p:spPr>
          <a:xfrm xmlns:a="http://schemas.openxmlformats.org/drawingml/2006/main">
            <a:off x="685800" y="6419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26676"/>
                </a:solidFill>
              </a:defRPr>
            </a:defPPr>
            <a:lvl1pPr algn="l">
              <a:buNone/>
              <a:defRPr sz="1125" b="0">
                <a:solidFill>
                  <a:srgbClr val="526676"/>
                </a:solidFill>
              </a:defRPr>
            </a:lvl1pPr>
            <a:lvl2pPr algn="l">
              <a:buNone/>
              <a:defRPr sz="1125" b="0">
                <a:solidFill>
                  <a:srgbClr val="526676"/>
                </a:solidFill>
              </a:defRPr>
            </a:lvl2pPr>
            <a:lvl3pPr algn="l">
              <a:buNone/>
              <a:defRPr sz="1125" b="0">
                <a:solidFill>
                  <a:srgbClr val="526676"/>
                </a:solidFill>
              </a:defRPr>
            </a:lvl3pPr>
            <a:lvl4pPr algn="l">
              <a:buNone/>
              <a:defRPr sz="1125" b="0">
                <a:solidFill>
                  <a:srgbClr val="526676"/>
                </a:solidFill>
              </a:defRPr>
            </a:lvl4pPr>
            <a:lvl5pPr algn="l">
              <a:buNone/>
              <a:defRPr sz="1125" b="0">
                <a:solidFill>
                  <a:srgbClr val="526676"/>
                </a:solidFill>
              </a:defRPr>
            </a:lvl5pPr>
            <a:lvl6pPr algn="l">
              <a:buNone/>
              <a:defRPr sz="1125" b="0">
                <a:solidFill>
                  <a:srgbClr val="526676"/>
                </a:solidFill>
              </a:defRPr>
            </a:lvl6pPr>
            <a:lvl7pPr algn="l">
              <a:buNone/>
              <a:defRPr sz="1125" b="0">
                <a:solidFill>
                  <a:srgbClr val="526676"/>
                </a:solidFill>
              </a:defRPr>
            </a:lvl7pPr>
            <a:lvl8pPr algn="l">
              <a:buNone/>
              <a:defRPr sz="1125" b="0">
                <a:solidFill>
                  <a:srgbClr val="526676"/>
                </a:solidFill>
              </a:defRPr>
            </a:lvl8pPr>
            <a:lvl9pPr algn="l">
              <a:buNone/>
              <a:defRPr sz="1125" b="0">
                <a:solidFill>
                  <a:srgbClr val="526676"/>
                </a:solidFill>
              </a:defRPr>
            </a:lvl9pPr>
          </a:lstStyle>
          <a:p xmlns:a="http://schemas.openxmlformats.org/drawingml/2006/main">
            <a:pPr algn="l">
              <a:buNone/>
              <a:defRPr sz="1125" b="0">
                <a:solidFill>
                  <a:srgbClr val="526676"/>
                </a:solidFill>
              </a:defRPr>
            </a:pPr>
            <a:r>
              <a:rPr sz="1125" b="0">
                <a:solidFill>
                  <a:srgbClr val="526676"/>
                </a:solidFill>
              </a:rPr>
              <a:t>Sources: inputs/bank.csv, inputs/claims.md</a:t>
            </a:r>
          </a:p>
        </p:txBody>
      </p:sp>
      <p:graphicFrame>
        <p:nvGraphicFramePr>
          <p:cNvPr id="9" name="Chart">
            <a:extLst xmlns:a="http://schemas.openxmlformats.org/drawingml/2006/main">
              <a:ext uri="{FF2B5EF4-FFF2-40B4-BE49-F238E27FC236}">
                <a16:creationId xmlns:a16="http://schemas.microsoft.com/office/drawing/2014/main" id="{0D7D0C58-1818-4893-8D71-EF3642EAD6E1}"/>
              </a:ext>
            </a:extLst>
          </p:cNvPr>
          <p:cNvGraphicFramePr/>
          <p:nvPr/>
        </p:nvGraphicFramePr>
        <p:xfrm>
          <a:off xmlns:a="http://schemas.openxmlformats.org/drawingml/2006/main" x="1047750" y="1504950"/>
          <a:ext xmlns:a="http://schemas.openxmlformats.org/drawingml/2006/main" cx="10096500" cy="3429000"/>
        </p:xfrm>
        <a:graphic xmlns:a="http://schemas.openxmlformats.org/drawingml/2006/main">
          <a:graphicData uri="http://schemas.openxmlformats.org/drawingml/2006/chart">
            <c:chart xmlns:r="http://schemas.openxmlformats.org/officeDocument/2006/relationships" xmlns:c="http://schemas.openxmlformats.org/drawingml/2006/chart" r:id="R3584230f11694224"/>
          </a:graphicData>
        </a:graphic>
      </p:graphicFrame>
    </p:spTree>
    <p:extLst>
      <p:ext uri="{BB962C8B-B14F-4D97-AF65-F5344CB8AC3E}">
        <p14:creationId xmlns:p14="http://schemas.microsoft.com/office/powerpoint/2010/main" val="8674023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300C219-79C1-4BED-876E-2CCB7220D4DE}"/>
              </a:ext>
            </a:extLst>
          </p:cNvPr>
          <p:cNvSpPr>
            <a:spLocks xmlns:a="http://schemas.openxmlformats.org/drawingml/2006/main" noGrp="1"/>
          </p:cNvSpPr>
          <p:nvPr/>
        </p:nvSpPr>
        <p:spPr>
          <a:xfrm xmlns:a="http://schemas.openxmlformats.org/drawingml/2006/main">
            <a:off x="685800" y="342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334A"/>
                </a:solidFill>
              </a:defRPr>
            </a:defPPr>
            <a:lvl1pPr algn="l">
              <a:buNone/>
              <a:defRPr sz="3450" b="1">
                <a:solidFill>
                  <a:srgbClr val="15334A"/>
                </a:solidFill>
              </a:defRPr>
            </a:lvl1pPr>
            <a:lvl2pPr algn="l">
              <a:buNone/>
              <a:defRPr sz="3450" b="1">
                <a:solidFill>
                  <a:srgbClr val="15334A"/>
                </a:solidFill>
              </a:defRPr>
            </a:lvl2pPr>
            <a:lvl3pPr algn="l">
              <a:buNone/>
              <a:defRPr sz="3450" b="1">
                <a:solidFill>
                  <a:srgbClr val="15334A"/>
                </a:solidFill>
              </a:defRPr>
            </a:lvl3pPr>
            <a:lvl4pPr algn="l">
              <a:buNone/>
              <a:defRPr sz="3450" b="1">
                <a:solidFill>
                  <a:srgbClr val="15334A"/>
                </a:solidFill>
              </a:defRPr>
            </a:lvl4pPr>
            <a:lvl5pPr algn="l">
              <a:buNone/>
              <a:defRPr sz="3450" b="1">
                <a:solidFill>
                  <a:srgbClr val="15334A"/>
                </a:solidFill>
              </a:defRPr>
            </a:lvl5pPr>
            <a:lvl6pPr algn="l">
              <a:buNone/>
              <a:defRPr sz="3450" b="1">
                <a:solidFill>
                  <a:srgbClr val="15334A"/>
                </a:solidFill>
              </a:defRPr>
            </a:lvl6pPr>
            <a:lvl7pPr algn="l">
              <a:buNone/>
              <a:defRPr sz="3450" b="1">
                <a:solidFill>
                  <a:srgbClr val="15334A"/>
                </a:solidFill>
              </a:defRPr>
            </a:lvl7pPr>
            <a:lvl8pPr algn="l">
              <a:buNone/>
              <a:defRPr sz="3450" b="1">
                <a:solidFill>
                  <a:srgbClr val="15334A"/>
                </a:solidFill>
              </a:defRPr>
            </a:lvl8pPr>
            <a:lvl9pPr algn="l">
              <a:buNone/>
              <a:defRPr sz="3450" b="1">
                <a:solidFill>
                  <a:srgbClr val="15334A"/>
                </a:solidFill>
              </a:defRPr>
            </a:lvl9pPr>
          </a:lstStyle>
          <a:p xmlns:a="http://schemas.openxmlformats.org/drawingml/2006/main">
            <a:pPr algn="l">
              <a:buNone/>
              <a:defRPr sz="3450" b="1">
                <a:solidFill>
                  <a:srgbClr val="15334A"/>
                </a:solidFill>
              </a:defRPr>
            </a:pPr>
            <a:r>
              <a:rPr sz="3450" b="1">
                <a:solidFill>
                  <a:srgbClr val="15334A"/>
                </a:solidFill>
              </a:rPr>
              <a:t>Base case ends with $21,083 cash</a:t>
            </a:r>
          </a:p>
        </p:txBody>
      </p:sp>
      <p:sp>
        <p:nvSpPr>
          <p:cNvPr id="2" name="page-number">
            <a:extLst xmlns:a="http://schemas.openxmlformats.org/drawingml/2006/main">
              <a:ext uri="{FF2B5EF4-FFF2-40B4-BE49-F238E27FC236}">
                <a16:creationId xmlns:a16="http://schemas.microsoft.com/office/drawing/2014/main" id="{A03A8A1B-4669-4A78-8EBB-087D294CA898}"/>
              </a:ext>
            </a:extLst>
          </p:cNvPr>
          <p:cNvSpPr>
            <a:spLocks xmlns:a="http://schemas.openxmlformats.org/drawingml/2006/main" noGrp="1"/>
          </p:cNvSpPr>
          <p:nvPr/>
        </p:nvSpPr>
        <p:spPr>
          <a:xfrm xmlns:a="http://schemas.openxmlformats.org/drawingml/2006/main">
            <a:off x="11277600" y="64389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25" b="0">
                <a:solidFill>
                  <a:srgbClr val="526676"/>
                </a:solidFill>
              </a:defRPr>
            </a:defPPr>
            <a:lvl1pPr algn="r">
              <a:buNone/>
              <a:defRPr sz="1125" b="0">
                <a:solidFill>
                  <a:srgbClr val="526676"/>
                </a:solidFill>
              </a:defRPr>
            </a:lvl1pPr>
            <a:lvl2pPr algn="r">
              <a:buNone/>
              <a:defRPr sz="1125" b="0">
                <a:solidFill>
                  <a:srgbClr val="526676"/>
                </a:solidFill>
              </a:defRPr>
            </a:lvl2pPr>
            <a:lvl3pPr algn="r">
              <a:buNone/>
              <a:defRPr sz="1125" b="0">
                <a:solidFill>
                  <a:srgbClr val="526676"/>
                </a:solidFill>
              </a:defRPr>
            </a:lvl3pPr>
            <a:lvl4pPr algn="r">
              <a:buNone/>
              <a:defRPr sz="1125" b="0">
                <a:solidFill>
                  <a:srgbClr val="526676"/>
                </a:solidFill>
              </a:defRPr>
            </a:lvl4pPr>
            <a:lvl5pPr algn="r">
              <a:buNone/>
              <a:defRPr sz="1125" b="0">
                <a:solidFill>
                  <a:srgbClr val="526676"/>
                </a:solidFill>
              </a:defRPr>
            </a:lvl5pPr>
            <a:lvl6pPr algn="r">
              <a:buNone/>
              <a:defRPr sz="1125" b="0">
                <a:solidFill>
                  <a:srgbClr val="526676"/>
                </a:solidFill>
              </a:defRPr>
            </a:lvl6pPr>
            <a:lvl7pPr algn="r">
              <a:buNone/>
              <a:defRPr sz="1125" b="0">
                <a:solidFill>
                  <a:srgbClr val="526676"/>
                </a:solidFill>
              </a:defRPr>
            </a:lvl7pPr>
            <a:lvl8pPr algn="r">
              <a:buNone/>
              <a:defRPr sz="1125" b="0">
                <a:solidFill>
                  <a:srgbClr val="526676"/>
                </a:solidFill>
              </a:defRPr>
            </a:lvl8pPr>
            <a:lvl9pPr algn="r">
              <a:buNone/>
              <a:defRPr sz="1125" b="0">
                <a:solidFill>
                  <a:srgbClr val="526676"/>
                </a:solidFill>
              </a:defRPr>
            </a:lvl9pPr>
          </a:lstStyle>
          <a:p xmlns:a="http://schemas.openxmlformats.org/drawingml/2006/main">
            <a:pPr algn="r">
              <a:buNone/>
              <a:defRPr sz="1125" b="0">
                <a:solidFill>
                  <a:srgbClr val="526676"/>
                </a:solidFill>
              </a:defRPr>
            </a:pPr>
            <a:r>
              <a:rPr sz="1125" b="0">
                <a:solidFill>
                  <a:srgbClr val="526676"/>
                </a:solidFill>
              </a:rPr>
              <a:t>5</a:t>
            </a:r>
          </a:p>
        </p:txBody>
      </p:sp>
      <p:sp>
        <p:nvSpPr>
          <p:cNvPr id="3" name="forecast-context">
            <a:extLst xmlns:a="http://schemas.openxmlformats.org/drawingml/2006/main">
              <a:ext uri="{FF2B5EF4-FFF2-40B4-BE49-F238E27FC236}">
                <a16:creationId xmlns:a16="http://schemas.microsoft.com/office/drawing/2014/main" id="{1D1B8811-9EBE-4851-B92E-B175BDEEA0BB}"/>
              </a:ext>
            </a:extLst>
          </p:cNvPr>
          <p:cNvSpPr>
            <a:spLocks xmlns:a="http://schemas.openxmlformats.org/drawingml/2006/main" noGrp="1"/>
          </p:cNvSpPr>
          <p:nvPr/>
        </p:nvSpPr>
        <p:spPr>
          <a:xfrm xmlns:a="http://schemas.openxmlformats.org/drawingml/2006/main">
            <a:off x="742950" y="1009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526676"/>
                </a:solidFill>
              </a:defRPr>
            </a:defPPr>
            <a:lvl1pPr algn="l">
              <a:buNone/>
              <a:defRPr sz="1800" b="0">
                <a:solidFill>
                  <a:srgbClr val="526676"/>
                </a:solidFill>
              </a:defRPr>
            </a:lvl1pPr>
            <a:lvl2pPr algn="l">
              <a:buNone/>
              <a:defRPr sz="1800" b="0">
                <a:solidFill>
                  <a:srgbClr val="526676"/>
                </a:solidFill>
              </a:defRPr>
            </a:lvl2pPr>
            <a:lvl3pPr algn="l">
              <a:buNone/>
              <a:defRPr sz="1800" b="0">
                <a:solidFill>
                  <a:srgbClr val="526676"/>
                </a:solidFill>
              </a:defRPr>
            </a:lvl3pPr>
            <a:lvl4pPr algn="l">
              <a:buNone/>
              <a:defRPr sz="1800" b="0">
                <a:solidFill>
                  <a:srgbClr val="526676"/>
                </a:solidFill>
              </a:defRPr>
            </a:lvl4pPr>
            <a:lvl5pPr algn="l">
              <a:buNone/>
              <a:defRPr sz="1800" b="0">
                <a:solidFill>
                  <a:srgbClr val="526676"/>
                </a:solidFill>
              </a:defRPr>
            </a:lvl5pPr>
            <a:lvl6pPr algn="l">
              <a:buNone/>
              <a:defRPr sz="1800" b="0">
                <a:solidFill>
                  <a:srgbClr val="526676"/>
                </a:solidFill>
              </a:defRPr>
            </a:lvl6pPr>
            <a:lvl7pPr algn="l">
              <a:buNone/>
              <a:defRPr sz="1800" b="0">
                <a:solidFill>
                  <a:srgbClr val="526676"/>
                </a:solidFill>
              </a:defRPr>
            </a:lvl7pPr>
            <a:lvl8pPr algn="l">
              <a:buNone/>
              <a:defRPr sz="1800" b="0">
                <a:solidFill>
                  <a:srgbClr val="526676"/>
                </a:solidFill>
              </a:defRPr>
            </a:lvl8pPr>
            <a:lvl9pPr algn="l">
              <a:buNone/>
              <a:defRPr sz="1800" b="0">
                <a:solidFill>
                  <a:srgbClr val="526676"/>
                </a:solidFill>
              </a:defRPr>
            </a:lvl9pPr>
          </a:lstStyle>
          <a:p xmlns:a="http://schemas.openxmlformats.org/drawingml/2006/main">
            <a:pPr algn="l">
              <a:buNone/>
              <a:defRPr sz="1800" b="0">
                <a:solidFill>
                  <a:srgbClr val="526676"/>
                </a:solidFill>
              </a:defRPr>
            </a:pPr>
            <a:r>
              <a:rPr sz="1800" b="0">
                <a:solidFill>
                  <a:srgbClr val="526676"/>
                </a:solidFill>
              </a:rPr>
              <a:t>Projected ending cash at March 2027 | starting cash $170,000 | USD thousands</a:t>
            </a:r>
          </a:p>
        </p:txBody>
      </p:sp>
      <p:sp>
        <p:nvSpPr>
          <p:cNvPr id="5" name="forecast-note">
            <a:extLst xmlns:a="http://schemas.openxmlformats.org/drawingml/2006/main">
              <a:ext uri="{FF2B5EF4-FFF2-40B4-BE49-F238E27FC236}">
                <a16:creationId xmlns:a16="http://schemas.microsoft.com/office/drawing/2014/main" id="{691C57FE-F14A-4A75-AC33-63BCD4877FBB}"/>
              </a:ext>
            </a:extLst>
          </p:cNvPr>
          <p:cNvSpPr>
            <a:spLocks xmlns:a="http://schemas.openxmlformats.org/drawingml/2006/main" noGrp="1"/>
          </p:cNvSpPr>
          <p:nvPr/>
        </p:nvSpPr>
        <p:spPr>
          <a:xfrm xmlns:a="http://schemas.openxmlformats.org/drawingml/2006/main">
            <a:off x="762000" y="5219700"/>
            <a:ext cx="1047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243746"/>
                </a:solidFill>
              </a:defRPr>
            </a:defPPr>
            <a:lvl1pPr algn="l">
              <a:buNone/>
              <a:defRPr sz="1575" b="0">
                <a:solidFill>
                  <a:srgbClr val="243746"/>
                </a:solidFill>
              </a:defRPr>
            </a:lvl1pPr>
            <a:lvl2pPr algn="l">
              <a:buNone/>
              <a:defRPr sz="1575" b="0">
                <a:solidFill>
                  <a:srgbClr val="243746"/>
                </a:solidFill>
              </a:defRPr>
            </a:lvl2pPr>
            <a:lvl3pPr algn="l">
              <a:buNone/>
              <a:defRPr sz="1575" b="0">
                <a:solidFill>
                  <a:srgbClr val="243746"/>
                </a:solidFill>
              </a:defRPr>
            </a:lvl3pPr>
            <a:lvl4pPr algn="l">
              <a:buNone/>
              <a:defRPr sz="1575" b="0">
                <a:solidFill>
                  <a:srgbClr val="243746"/>
                </a:solidFill>
              </a:defRPr>
            </a:lvl4pPr>
            <a:lvl5pPr algn="l">
              <a:buNone/>
              <a:defRPr sz="1575" b="0">
                <a:solidFill>
                  <a:srgbClr val="243746"/>
                </a:solidFill>
              </a:defRPr>
            </a:lvl5pPr>
            <a:lvl6pPr algn="l">
              <a:buNone/>
              <a:defRPr sz="1575" b="0">
                <a:solidFill>
                  <a:srgbClr val="243746"/>
                </a:solidFill>
              </a:defRPr>
            </a:lvl6pPr>
            <a:lvl7pPr algn="l">
              <a:buNone/>
              <a:defRPr sz="1575" b="0">
                <a:solidFill>
                  <a:srgbClr val="243746"/>
                </a:solidFill>
              </a:defRPr>
            </a:lvl7pPr>
            <a:lvl8pPr algn="l">
              <a:buNone/>
              <a:defRPr sz="1575" b="0">
                <a:solidFill>
                  <a:srgbClr val="243746"/>
                </a:solidFill>
              </a:defRPr>
            </a:lvl8pPr>
            <a:lvl9pPr algn="l">
              <a:buNone/>
              <a:defRPr sz="1575" b="0">
                <a:solidFill>
                  <a:srgbClr val="243746"/>
                </a:solidFill>
              </a:defRPr>
            </a:lvl9pPr>
          </a:lstStyle>
          <a:p xmlns:a="http://schemas.openxmlformats.org/drawingml/2006/main">
            <a:pPr algn="l">
              <a:buNone/>
              <a:defRPr sz="1575" b="0">
                <a:solidFill>
                  <a:srgbClr val="243746"/>
                </a:solidFill>
              </a:defRPr>
            </a:pPr>
            <a:r>
              <a:rPr sz="1575" b="0">
                <a:solidFill>
                  <a:srgbClr val="243746"/>
                </a:solidFill>
              </a:rPr>
              <a:t>Base removes the $40,000 old-invoice receipt. No new funding or growth is assumed. The Q1 case is a sparse-activity sensitivity, not a full cost forecast.</a:t>
            </a:r>
          </a:p>
        </p:txBody>
      </p:sp>
      <p:sp>
        <p:nvSpPr>
          <p:cNvPr id="6" name="source-footer">
            <a:extLst xmlns:a="http://schemas.openxmlformats.org/drawingml/2006/main">
              <a:ext uri="{FF2B5EF4-FFF2-40B4-BE49-F238E27FC236}">
                <a16:creationId xmlns:a16="http://schemas.microsoft.com/office/drawing/2014/main" id="{E55BCB5D-F41F-4468-8EAF-5BDB87EBB0E2}"/>
              </a:ext>
            </a:extLst>
          </p:cNvPr>
          <p:cNvSpPr>
            <a:spLocks xmlns:a="http://schemas.openxmlformats.org/drawingml/2006/main" noGrp="1"/>
          </p:cNvSpPr>
          <p:nvPr/>
        </p:nvSpPr>
        <p:spPr>
          <a:xfrm xmlns:a="http://schemas.openxmlformats.org/drawingml/2006/main">
            <a:off x="685800" y="6419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26676"/>
                </a:solidFill>
              </a:defRPr>
            </a:defPPr>
            <a:lvl1pPr algn="l">
              <a:buNone/>
              <a:defRPr sz="1125" b="0">
                <a:solidFill>
                  <a:srgbClr val="526676"/>
                </a:solidFill>
              </a:defRPr>
            </a:lvl1pPr>
            <a:lvl2pPr algn="l">
              <a:buNone/>
              <a:defRPr sz="1125" b="0">
                <a:solidFill>
                  <a:srgbClr val="526676"/>
                </a:solidFill>
              </a:defRPr>
            </a:lvl2pPr>
            <a:lvl3pPr algn="l">
              <a:buNone/>
              <a:defRPr sz="1125" b="0">
                <a:solidFill>
                  <a:srgbClr val="526676"/>
                </a:solidFill>
              </a:defRPr>
            </a:lvl3pPr>
            <a:lvl4pPr algn="l">
              <a:buNone/>
              <a:defRPr sz="1125" b="0">
                <a:solidFill>
                  <a:srgbClr val="526676"/>
                </a:solidFill>
              </a:defRPr>
            </a:lvl4pPr>
            <a:lvl5pPr algn="l">
              <a:buNone/>
              <a:defRPr sz="1125" b="0">
                <a:solidFill>
                  <a:srgbClr val="526676"/>
                </a:solidFill>
              </a:defRPr>
            </a:lvl5pPr>
            <a:lvl6pPr algn="l">
              <a:buNone/>
              <a:defRPr sz="1125" b="0">
                <a:solidFill>
                  <a:srgbClr val="526676"/>
                </a:solidFill>
              </a:defRPr>
            </a:lvl6pPr>
            <a:lvl7pPr algn="l">
              <a:buNone/>
              <a:defRPr sz="1125" b="0">
                <a:solidFill>
                  <a:srgbClr val="526676"/>
                </a:solidFill>
              </a:defRPr>
            </a:lvl7pPr>
            <a:lvl8pPr algn="l">
              <a:buNone/>
              <a:defRPr sz="1125" b="0">
                <a:solidFill>
                  <a:srgbClr val="526676"/>
                </a:solidFill>
              </a:defRPr>
            </a:lvl8pPr>
            <a:lvl9pPr algn="l">
              <a:buNone/>
              <a:defRPr sz="1125" b="0">
                <a:solidFill>
                  <a:srgbClr val="526676"/>
                </a:solidFill>
              </a:defRPr>
            </a:lvl9pPr>
          </a:lstStyle>
          <a:p xmlns:a="http://schemas.openxmlformats.org/drawingml/2006/main">
            <a:pPr algn="l">
              <a:buNone/>
              <a:defRPr sz="1125" b="0">
                <a:solidFill>
                  <a:srgbClr val="526676"/>
                </a:solidFill>
              </a:defRPr>
            </a:pPr>
            <a:r>
              <a:rPr sz="1125" b="0">
                <a:solidFill>
                  <a:srgbClr val="526676"/>
                </a:solidFill>
              </a:rPr>
              <a:t>Sources: inputs/bank.csv; roles/04_investment_manager/forecast.md</a:t>
            </a:r>
          </a:p>
        </p:txBody>
      </p:sp>
      <p:graphicFrame>
        <p:nvGraphicFramePr>
          <p:cNvPr id="8" name="Chart">
            <a:extLst xmlns:a="http://schemas.openxmlformats.org/drawingml/2006/main">
              <a:ext uri="{FF2B5EF4-FFF2-40B4-BE49-F238E27FC236}">
                <a16:creationId xmlns:a16="http://schemas.microsoft.com/office/drawing/2014/main" id="{47E3258D-1CDF-4B05-8984-DDDC96852F94}"/>
              </a:ext>
            </a:extLst>
          </p:cNvPr>
          <p:cNvGraphicFramePr/>
          <p:nvPr/>
        </p:nvGraphicFramePr>
        <p:xfrm>
          <a:off xmlns:a="http://schemas.openxmlformats.org/drawingml/2006/main" x="876300" y="1524000"/>
          <a:ext xmlns:a="http://schemas.openxmlformats.org/drawingml/2006/main" cx="10382250" cy="3429000"/>
        </p:xfrm>
        <a:graphic xmlns:a="http://schemas.openxmlformats.org/drawingml/2006/main">
          <a:graphicData uri="http://schemas.openxmlformats.org/drawingml/2006/chart">
            <c:chart xmlns:r="http://schemas.openxmlformats.org/officeDocument/2006/relationships" xmlns:c="http://schemas.openxmlformats.org/drawingml/2006/chart" r:id="R1c290ad4fc4e4e62"/>
          </a:graphicData>
        </a:graphic>
      </p:graphicFrame>
    </p:spTree>
    <p:extLst>
      <p:ext uri="{BB962C8B-B14F-4D97-AF65-F5344CB8AC3E}">
        <p14:creationId xmlns:p14="http://schemas.microsoft.com/office/powerpoint/2010/main" val="3041603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7694E93-A747-431C-A2B4-D539F472A1E5}"/>
              </a:ext>
            </a:extLst>
          </p:cNvPr>
          <p:cNvSpPr>
            <a:spLocks xmlns:a="http://schemas.openxmlformats.org/drawingml/2006/main" noGrp="1"/>
          </p:cNvSpPr>
          <p:nvPr/>
        </p:nvSpPr>
        <p:spPr>
          <a:xfrm xmlns:a="http://schemas.openxmlformats.org/drawingml/2006/main">
            <a:off x="685800" y="342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334A"/>
                </a:solidFill>
              </a:defRPr>
            </a:defPPr>
            <a:lvl1pPr algn="l">
              <a:buNone/>
              <a:defRPr sz="3450" b="1">
                <a:solidFill>
                  <a:srgbClr val="15334A"/>
                </a:solidFill>
              </a:defRPr>
            </a:lvl1pPr>
            <a:lvl2pPr algn="l">
              <a:buNone/>
              <a:defRPr sz="3450" b="1">
                <a:solidFill>
                  <a:srgbClr val="15334A"/>
                </a:solidFill>
              </a:defRPr>
            </a:lvl2pPr>
            <a:lvl3pPr algn="l">
              <a:buNone/>
              <a:defRPr sz="3450" b="1">
                <a:solidFill>
                  <a:srgbClr val="15334A"/>
                </a:solidFill>
              </a:defRPr>
            </a:lvl3pPr>
            <a:lvl4pPr algn="l">
              <a:buNone/>
              <a:defRPr sz="3450" b="1">
                <a:solidFill>
                  <a:srgbClr val="15334A"/>
                </a:solidFill>
              </a:defRPr>
            </a:lvl4pPr>
            <a:lvl5pPr algn="l">
              <a:buNone/>
              <a:defRPr sz="3450" b="1">
                <a:solidFill>
                  <a:srgbClr val="15334A"/>
                </a:solidFill>
              </a:defRPr>
            </a:lvl5pPr>
            <a:lvl6pPr algn="l">
              <a:buNone/>
              <a:defRPr sz="3450" b="1">
                <a:solidFill>
                  <a:srgbClr val="15334A"/>
                </a:solidFill>
              </a:defRPr>
            </a:lvl6pPr>
            <a:lvl7pPr algn="l">
              <a:buNone/>
              <a:defRPr sz="3450" b="1">
                <a:solidFill>
                  <a:srgbClr val="15334A"/>
                </a:solidFill>
              </a:defRPr>
            </a:lvl7pPr>
            <a:lvl8pPr algn="l">
              <a:buNone/>
              <a:defRPr sz="3450" b="1">
                <a:solidFill>
                  <a:srgbClr val="15334A"/>
                </a:solidFill>
              </a:defRPr>
            </a:lvl8pPr>
            <a:lvl9pPr algn="l">
              <a:buNone/>
              <a:defRPr sz="3450" b="1">
                <a:solidFill>
                  <a:srgbClr val="15334A"/>
                </a:solidFill>
              </a:defRPr>
            </a:lvl9pPr>
          </a:lstStyle>
          <a:p xmlns:a="http://schemas.openxmlformats.org/drawingml/2006/main">
            <a:pPr algn="l">
              <a:buNone/>
              <a:defRPr sz="3450" b="1">
                <a:solidFill>
                  <a:srgbClr val="15334A"/>
                </a:solidFill>
              </a:defRPr>
            </a:pPr>
            <a:r>
              <a:rPr sz="3450" b="1">
                <a:solidFill>
                  <a:srgbClr val="15334A"/>
                </a:solidFill>
              </a:rPr>
              <a:t>Pass now; reopen after diligence</a:t>
            </a:r>
          </a:p>
        </p:txBody>
      </p:sp>
      <p:sp>
        <p:nvSpPr>
          <p:cNvPr id="2" name="page-number">
            <a:extLst xmlns:a="http://schemas.openxmlformats.org/drawingml/2006/main">
              <a:ext uri="{FF2B5EF4-FFF2-40B4-BE49-F238E27FC236}">
                <a16:creationId xmlns:a16="http://schemas.microsoft.com/office/drawing/2014/main" id="{8FFCE00F-F6FB-4238-B5F4-7C70F70D17B1}"/>
              </a:ext>
            </a:extLst>
          </p:cNvPr>
          <p:cNvSpPr>
            <a:spLocks xmlns:a="http://schemas.openxmlformats.org/drawingml/2006/main" noGrp="1"/>
          </p:cNvSpPr>
          <p:nvPr/>
        </p:nvSpPr>
        <p:spPr>
          <a:xfrm xmlns:a="http://schemas.openxmlformats.org/drawingml/2006/main">
            <a:off x="11277600" y="64389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25" b="0">
                <a:solidFill>
                  <a:srgbClr val="526676"/>
                </a:solidFill>
              </a:defRPr>
            </a:defPPr>
            <a:lvl1pPr algn="r">
              <a:buNone/>
              <a:defRPr sz="1125" b="0">
                <a:solidFill>
                  <a:srgbClr val="526676"/>
                </a:solidFill>
              </a:defRPr>
            </a:lvl1pPr>
            <a:lvl2pPr algn="r">
              <a:buNone/>
              <a:defRPr sz="1125" b="0">
                <a:solidFill>
                  <a:srgbClr val="526676"/>
                </a:solidFill>
              </a:defRPr>
            </a:lvl2pPr>
            <a:lvl3pPr algn="r">
              <a:buNone/>
              <a:defRPr sz="1125" b="0">
                <a:solidFill>
                  <a:srgbClr val="526676"/>
                </a:solidFill>
              </a:defRPr>
            </a:lvl3pPr>
            <a:lvl4pPr algn="r">
              <a:buNone/>
              <a:defRPr sz="1125" b="0">
                <a:solidFill>
                  <a:srgbClr val="526676"/>
                </a:solidFill>
              </a:defRPr>
            </a:lvl4pPr>
            <a:lvl5pPr algn="r">
              <a:buNone/>
              <a:defRPr sz="1125" b="0">
                <a:solidFill>
                  <a:srgbClr val="526676"/>
                </a:solidFill>
              </a:defRPr>
            </a:lvl5pPr>
            <a:lvl6pPr algn="r">
              <a:buNone/>
              <a:defRPr sz="1125" b="0">
                <a:solidFill>
                  <a:srgbClr val="526676"/>
                </a:solidFill>
              </a:defRPr>
            </a:lvl6pPr>
            <a:lvl7pPr algn="r">
              <a:buNone/>
              <a:defRPr sz="1125" b="0">
                <a:solidFill>
                  <a:srgbClr val="526676"/>
                </a:solidFill>
              </a:defRPr>
            </a:lvl7pPr>
            <a:lvl8pPr algn="r">
              <a:buNone/>
              <a:defRPr sz="1125" b="0">
                <a:solidFill>
                  <a:srgbClr val="526676"/>
                </a:solidFill>
              </a:defRPr>
            </a:lvl8pPr>
            <a:lvl9pPr algn="r">
              <a:buNone/>
              <a:defRPr sz="1125" b="0">
                <a:solidFill>
                  <a:srgbClr val="526676"/>
                </a:solidFill>
              </a:defRPr>
            </a:lvl9pPr>
          </a:lstStyle>
          <a:p xmlns:a="http://schemas.openxmlformats.org/drawingml/2006/main">
            <a:pPr algn="r">
              <a:buNone/>
              <a:defRPr sz="1125" b="0">
                <a:solidFill>
                  <a:srgbClr val="526676"/>
                </a:solidFill>
              </a:defRPr>
            </a:pPr>
            <a:r>
              <a:rPr sz="1125" b="0">
                <a:solidFill>
                  <a:srgbClr val="526676"/>
                </a:solidFill>
              </a:rPr>
              <a:t>6</a:t>
            </a:r>
          </a:p>
        </p:txBody>
      </p:sp>
      <p:sp>
        <p:nvSpPr>
          <p:cNvPr id="3" name="decision-lead">
            <a:extLst xmlns:a="http://schemas.openxmlformats.org/drawingml/2006/main">
              <a:ext uri="{FF2B5EF4-FFF2-40B4-BE49-F238E27FC236}">
                <a16:creationId xmlns:a16="http://schemas.microsoft.com/office/drawing/2014/main" id="{536B48DF-824A-43A1-97C1-291AD79C5866}"/>
              </a:ext>
            </a:extLst>
          </p:cNvPr>
          <p:cNvSpPr>
            <a:spLocks xmlns:a="http://schemas.openxmlformats.org/drawingml/2006/main" noGrp="1"/>
          </p:cNvSpPr>
          <p:nvPr/>
        </p:nvSpPr>
        <p:spPr>
          <a:xfrm xmlns:a="http://schemas.openxmlformats.org/drawingml/2006/main">
            <a:off x="742950" y="1047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B7533E"/>
                </a:solidFill>
              </a:defRPr>
            </a:defPPr>
            <a:lvl1pPr algn="l">
              <a:buNone/>
              <a:defRPr sz="2100" b="1">
                <a:solidFill>
                  <a:srgbClr val="B7533E"/>
                </a:solidFill>
              </a:defRPr>
            </a:lvl1pPr>
            <a:lvl2pPr algn="l">
              <a:buNone/>
              <a:defRPr sz="2100" b="1">
                <a:solidFill>
                  <a:srgbClr val="B7533E"/>
                </a:solidFill>
              </a:defRPr>
            </a:lvl2pPr>
            <a:lvl3pPr algn="l">
              <a:buNone/>
              <a:defRPr sz="2100" b="1">
                <a:solidFill>
                  <a:srgbClr val="B7533E"/>
                </a:solidFill>
              </a:defRPr>
            </a:lvl3pPr>
            <a:lvl4pPr algn="l">
              <a:buNone/>
              <a:defRPr sz="2100" b="1">
                <a:solidFill>
                  <a:srgbClr val="B7533E"/>
                </a:solidFill>
              </a:defRPr>
            </a:lvl4pPr>
            <a:lvl5pPr algn="l">
              <a:buNone/>
              <a:defRPr sz="2100" b="1">
                <a:solidFill>
                  <a:srgbClr val="B7533E"/>
                </a:solidFill>
              </a:defRPr>
            </a:lvl5pPr>
            <a:lvl6pPr algn="l">
              <a:buNone/>
              <a:defRPr sz="2100" b="1">
                <a:solidFill>
                  <a:srgbClr val="B7533E"/>
                </a:solidFill>
              </a:defRPr>
            </a:lvl6pPr>
            <a:lvl7pPr algn="l">
              <a:buNone/>
              <a:defRPr sz="2100" b="1">
                <a:solidFill>
                  <a:srgbClr val="B7533E"/>
                </a:solidFill>
              </a:defRPr>
            </a:lvl7pPr>
            <a:lvl8pPr algn="l">
              <a:buNone/>
              <a:defRPr sz="2100" b="1">
                <a:solidFill>
                  <a:srgbClr val="B7533E"/>
                </a:solidFill>
              </a:defRPr>
            </a:lvl8pPr>
            <a:lvl9pPr algn="l">
              <a:buNone/>
              <a:defRPr sz="2100" b="1">
                <a:solidFill>
                  <a:srgbClr val="B7533E"/>
                </a:solidFill>
              </a:defRPr>
            </a:lvl9pPr>
          </a:lstStyle>
          <a:p xmlns:a="http://schemas.openxmlformats.org/drawingml/2006/main">
            <a:pPr algn="l">
              <a:buNone/>
              <a:defRPr sz="2100" b="1">
                <a:solidFill>
                  <a:srgbClr val="B7533E"/>
                </a:solidFill>
              </a:defRPr>
            </a:pPr>
            <a:r>
              <a:rPr sz="2100" b="1">
                <a:solidFill>
                  <a:srgbClr val="B7533E"/>
                </a:solidFill>
              </a:rPr>
              <a:t>The current $500,000 request lacks an evidenced path to positive operating cash.</a:t>
            </a:r>
          </a:p>
        </p:txBody>
      </p:sp>
      <p:sp>
        <p:nvSpPr>
          <p:cNvPr id="4" name="gate-1-label">
            <a:extLst xmlns:a="http://schemas.openxmlformats.org/drawingml/2006/main">
              <a:ext uri="{FF2B5EF4-FFF2-40B4-BE49-F238E27FC236}">
                <a16:creationId xmlns:a16="http://schemas.microsoft.com/office/drawing/2014/main" id="{95D04E3E-8799-427E-9A29-0F7397A842FF}"/>
              </a:ext>
            </a:extLst>
          </p:cNvPr>
          <p:cNvSpPr>
            <a:spLocks xmlns:a="http://schemas.openxmlformats.org/drawingml/2006/main" noGrp="1"/>
          </p:cNvSpPr>
          <p:nvPr/>
        </p:nvSpPr>
        <p:spPr>
          <a:xfrm xmlns:a="http://schemas.openxmlformats.org/drawingml/2006/main">
            <a:off x="762000" y="20955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7A72"/>
                </a:solidFill>
              </a:defRPr>
            </a:defPPr>
            <a:lvl1pPr algn="l">
              <a:buNone/>
              <a:defRPr sz="1725" b="1">
                <a:solidFill>
                  <a:srgbClr val="157A72"/>
                </a:solidFill>
              </a:defRPr>
            </a:lvl1pPr>
            <a:lvl2pPr algn="l">
              <a:buNone/>
              <a:defRPr sz="1725" b="1">
                <a:solidFill>
                  <a:srgbClr val="157A72"/>
                </a:solidFill>
              </a:defRPr>
            </a:lvl2pPr>
            <a:lvl3pPr algn="l">
              <a:buNone/>
              <a:defRPr sz="1725" b="1">
                <a:solidFill>
                  <a:srgbClr val="157A72"/>
                </a:solidFill>
              </a:defRPr>
            </a:lvl3pPr>
            <a:lvl4pPr algn="l">
              <a:buNone/>
              <a:defRPr sz="1725" b="1">
                <a:solidFill>
                  <a:srgbClr val="157A72"/>
                </a:solidFill>
              </a:defRPr>
            </a:lvl4pPr>
            <a:lvl5pPr algn="l">
              <a:buNone/>
              <a:defRPr sz="1725" b="1">
                <a:solidFill>
                  <a:srgbClr val="157A72"/>
                </a:solidFill>
              </a:defRPr>
            </a:lvl5pPr>
            <a:lvl6pPr algn="l">
              <a:buNone/>
              <a:defRPr sz="1725" b="1">
                <a:solidFill>
                  <a:srgbClr val="157A72"/>
                </a:solidFill>
              </a:defRPr>
            </a:lvl6pPr>
            <a:lvl7pPr algn="l">
              <a:buNone/>
              <a:defRPr sz="1725" b="1">
                <a:solidFill>
                  <a:srgbClr val="157A72"/>
                </a:solidFill>
              </a:defRPr>
            </a:lvl7pPr>
            <a:lvl8pPr algn="l">
              <a:buNone/>
              <a:defRPr sz="1725" b="1">
                <a:solidFill>
                  <a:srgbClr val="157A72"/>
                </a:solidFill>
              </a:defRPr>
            </a:lvl8pPr>
            <a:lvl9pPr algn="l">
              <a:buNone/>
              <a:defRPr sz="1725" b="1">
                <a:solidFill>
                  <a:srgbClr val="157A72"/>
                </a:solidFill>
              </a:defRPr>
            </a:lvl9pPr>
          </a:lstStyle>
          <a:p xmlns:a="http://schemas.openxmlformats.org/drawingml/2006/main">
            <a:pPr algn="l">
              <a:buNone/>
              <a:defRPr sz="1725" b="1">
                <a:solidFill>
                  <a:srgbClr val="157A72"/>
                </a:solidFill>
              </a:defRPr>
            </a:pPr>
            <a:r>
              <a:rPr sz="1725" b="1">
                <a:solidFill>
                  <a:srgbClr val="157A72"/>
                </a:solidFill>
              </a:rPr>
              <a:t>1  Financial records</a:t>
            </a:r>
          </a:p>
        </p:txBody>
      </p:sp>
      <p:sp>
        <p:nvSpPr>
          <p:cNvPr id="5" name="gate-1">
            <a:extLst xmlns:a="http://schemas.openxmlformats.org/drawingml/2006/main">
              <a:ext uri="{FF2B5EF4-FFF2-40B4-BE49-F238E27FC236}">
                <a16:creationId xmlns:a16="http://schemas.microsoft.com/office/drawing/2014/main" id="{BC819C3D-227E-4594-A51E-B6CE9F98DEED}"/>
              </a:ext>
            </a:extLst>
          </p:cNvPr>
          <p:cNvSpPr>
            <a:spLocks xmlns:a="http://schemas.openxmlformats.org/drawingml/2006/main" noGrp="1"/>
          </p:cNvSpPr>
          <p:nvPr/>
        </p:nvSpPr>
        <p:spPr>
          <a:xfrm xmlns:a="http://schemas.openxmlformats.org/drawingml/2006/main">
            <a:off x="762000" y="2476500"/>
            <a:ext cx="4953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243746"/>
                </a:solidFill>
              </a:defRPr>
            </a:defPPr>
            <a:lvl1pPr algn="l">
              <a:buNone/>
              <a:defRPr sz="1650" b="0">
                <a:solidFill>
                  <a:srgbClr val="243746"/>
                </a:solidFill>
              </a:defRPr>
            </a:lvl1pPr>
            <a:lvl2pPr algn="l">
              <a:buNone/>
              <a:defRPr sz="1650" b="0">
                <a:solidFill>
                  <a:srgbClr val="243746"/>
                </a:solidFill>
              </a:defRPr>
            </a:lvl2pPr>
            <a:lvl3pPr algn="l">
              <a:buNone/>
              <a:defRPr sz="1650" b="0">
                <a:solidFill>
                  <a:srgbClr val="243746"/>
                </a:solidFill>
              </a:defRPr>
            </a:lvl3pPr>
            <a:lvl4pPr algn="l">
              <a:buNone/>
              <a:defRPr sz="1650" b="0">
                <a:solidFill>
                  <a:srgbClr val="243746"/>
                </a:solidFill>
              </a:defRPr>
            </a:lvl4pPr>
            <a:lvl5pPr algn="l">
              <a:buNone/>
              <a:defRPr sz="1650" b="0">
                <a:solidFill>
                  <a:srgbClr val="243746"/>
                </a:solidFill>
              </a:defRPr>
            </a:lvl5pPr>
            <a:lvl6pPr algn="l">
              <a:buNone/>
              <a:defRPr sz="1650" b="0">
                <a:solidFill>
                  <a:srgbClr val="243746"/>
                </a:solidFill>
              </a:defRPr>
            </a:lvl6pPr>
            <a:lvl7pPr algn="l">
              <a:buNone/>
              <a:defRPr sz="1650" b="0">
                <a:solidFill>
                  <a:srgbClr val="243746"/>
                </a:solidFill>
              </a:defRPr>
            </a:lvl7pPr>
            <a:lvl8pPr algn="l">
              <a:buNone/>
              <a:defRPr sz="1650" b="0">
                <a:solidFill>
                  <a:srgbClr val="243746"/>
                </a:solidFill>
              </a:defRPr>
            </a:lvl8pPr>
            <a:lvl9pPr algn="l">
              <a:buNone/>
              <a:defRPr sz="1650" b="0">
                <a:solidFill>
                  <a:srgbClr val="243746"/>
                </a:solidFill>
              </a:defRPr>
            </a:lvl9pPr>
          </a:lstStyle>
          <a:p xmlns:a="http://schemas.openxmlformats.org/drawingml/2006/main">
            <a:pPr algn="l">
              <a:buNone/>
              <a:defRPr sz="1650" b="0">
                <a:solidFill>
                  <a:srgbClr val="243746"/>
                </a:solidFill>
              </a:defRPr>
            </a:pPr>
            <a:r>
              <a:rPr sz="1650" b="0">
                <a:solidFill>
                  <a:srgbClr val="243746"/>
                </a:solidFill>
              </a:rPr>
              <a:t>Correct the invoice register and explain why the $1.2M claim equals $1.0M of raw invoice rows plus $200K of financing. This is a numerical coincidence, not proof of intent.</a:t>
            </a:r>
          </a:p>
        </p:txBody>
      </p:sp>
      <p:sp>
        <p:nvSpPr>
          <p:cNvPr id="6" name="gate-2-label">
            <a:extLst xmlns:a="http://schemas.openxmlformats.org/drawingml/2006/main">
              <a:ext uri="{FF2B5EF4-FFF2-40B4-BE49-F238E27FC236}">
                <a16:creationId xmlns:a16="http://schemas.microsoft.com/office/drawing/2014/main" id="{C42D5CC6-5F2E-4886-80BE-B74E8E8815A7}"/>
              </a:ext>
            </a:extLst>
          </p:cNvPr>
          <p:cNvSpPr>
            <a:spLocks xmlns:a="http://schemas.openxmlformats.org/drawingml/2006/main" noGrp="1"/>
          </p:cNvSpPr>
          <p:nvPr/>
        </p:nvSpPr>
        <p:spPr>
          <a:xfrm xmlns:a="http://schemas.openxmlformats.org/drawingml/2006/main">
            <a:off x="6286500" y="20955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7A72"/>
                </a:solidFill>
              </a:defRPr>
            </a:defPPr>
            <a:lvl1pPr algn="l">
              <a:buNone/>
              <a:defRPr sz="1725" b="1">
                <a:solidFill>
                  <a:srgbClr val="157A72"/>
                </a:solidFill>
              </a:defRPr>
            </a:lvl1pPr>
            <a:lvl2pPr algn="l">
              <a:buNone/>
              <a:defRPr sz="1725" b="1">
                <a:solidFill>
                  <a:srgbClr val="157A72"/>
                </a:solidFill>
              </a:defRPr>
            </a:lvl2pPr>
            <a:lvl3pPr algn="l">
              <a:buNone/>
              <a:defRPr sz="1725" b="1">
                <a:solidFill>
                  <a:srgbClr val="157A72"/>
                </a:solidFill>
              </a:defRPr>
            </a:lvl3pPr>
            <a:lvl4pPr algn="l">
              <a:buNone/>
              <a:defRPr sz="1725" b="1">
                <a:solidFill>
                  <a:srgbClr val="157A72"/>
                </a:solidFill>
              </a:defRPr>
            </a:lvl4pPr>
            <a:lvl5pPr algn="l">
              <a:buNone/>
              <a:defRPr sz="1725" b="1">
                <a:solidFill>
                  <a:srgbClr val="157A72"/>
                </a:solidFill>
              </a:defRPr>
            </a:lvl5pPr>
            <a:lvl6pPr algn="l">
              <a:buNone/>
              <a:defRPr sz="1725" b="1">
                <a:solidFill>
                  <a:srgbClr val="157A72"/>
                </a:solidFill>
              </a:defRPr>
            </a:lvl6pPr>
            <a:lvl7pPr algn="l">
              <a:buNone/>
              <a:defRPr sz="1725" b="1">
                <a:solidFill>
                  <a:srgbClr val="157A72"/>
                </a:solidFill>
              </a:defRPr>
            </a:lvl7pPr>
            <a:lvl8pPr algn="l">
              <a:buNone/>
              <a:defRPr sz="1725" b="1">
                <a:solidFill>
                  <a:srgbClr val="157A72"/>
                </a:solidFill>
              </a:defRPr>
            </a:lvl8pPr>
            <a:lvl9pPr algn="l">
              <a:buNone/>
              <a:defRPr sz="1725" b="1">
                <a:solidFill>
                  <a:srgbClr val="157A72"/>
                </a:solidFill>
              </a:defRPr>
            </a:lvl9pPr>
          </a:lstStyle>
          <a:p xmlns:a="http://schemas.openxmlformats.org/drawingml/2006/main">
            <a:pPr algn="l">
              <a:buNone/>
              <a:defRPr sz="1725" b="1">
                <a:solidFill>
                  <a:srgbClr val="157A72"/>
                </a:solidFill>
              </a:defRPr>
            </a:pPr>
            <a:r>
              <a:rPr sz="1725" b="1">
                <a:solidFill>
                  <a:srgbClr val="157A72"/>
                </a:solidFill>
              </a:rPr>
              <a:t>2  Operating plan</a:t>
            </a:r>
          </a:p>
        </p:txBody>
      </p:sp>
      <p:sp>
        <p:nvSpPr>
          <p:cNvPr id="7" name="gate-2">
            <a:extLst xmlns:a="http://schemas.openxmlformats.org/drawingml/2006/main">
              <a:ext uri="{FF2B5EF4-FFF2-40B4-BE49-F238E27FC236}">
                <a16:creationId xmlns:a16="http://schemas.microsoft.com/office/drawing/2014/main" id="{FD2A5CAF-77E5-48EB-9D55-CB990F5082F7}"/>
              </a:ext>
            </a:extLst>
          </p:cNvPr>
          <p:cNvSpPr>
            <a:spLocks xmlns:a="http://schemas.openxmlformats.org/drawingml/2006/main" noGrp="1"/>
          </p:cNvSpPr>
          <p:nvPr/>
        </p:nvSpPr>
        <p:spPr>
          <a:xfrm xmlns:a="http://schemas.openxmlformats.org/drawingml/2006/main">
            <a:off x="6286500" y="2476500"/>
            <a:ext cx="4953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243746"/>
                </a:solidFill>
              </a:defRPr>
            </a:defPPr>
            <a:lvl1pPr algn="l">
              <a:buNone/>
              <a:defRPr sz="1650" b="0">
                <a:solidFill>
                  <a:srgbClr val="243746"/>
                </a:solidFill>
              </a:defRPr>
            </a:lvl1pPr>
            <a:lvl2pPr algn="l">
              <a:buNone/>
              <a:defRPr sz="1650" b="0">
                <a:solidFill>
                  <a:srgbClr val="243746"/>
                </a:solidFill>
              </a:defRPr>
            </a:lvl2pPr>
            <a:lvl3pPr algn="l">
              <a:buNone/>
              <a:defRPr sz="1650" b="0">
                <a:solidFill>
                  <a:srgbClr val="243746"/>
                </a:solidFill>
              </a:defRPr>
            </a:lvl3pPr>
            <a:lvl4pPr algn="l">
              <a:buNone/>
              <a:defRPr sz="1650" b="0">
                <a:solidFill>
                  <a:srgbClr val="243746"/>
                </a:solidFill>
              </a:defRPr>
            </a:lvl4pPr>
            <a:lvl5pPr algn="l">
              <a:buNone/>
              <a:defRPr sz="1650" b="0">
                <a:solidFill>
                  <a:srgbClr val="243746"/>
                </a:solidFill>
              </a:defRPr>
            </a:lvl5pPr>
            <a:lvl6pPr algn="l">
              <a:buNone/>
              <a:defRPr sz="1650" b="0">
                <a:solidFill>
                  <a:srgbClr val="243746"/>
                </a:solidFill>
              </a:defRPr>
            </a:lvl6pPr>
            <a:lvl7pPr algn="l">
              <a:buNone/>
              <a:defRPr sz="1650" b="0">
                <a:solidFill>
                  <a:srgbClr val="243746"/>
                </a:solidFill>
              </a:defRPr>
            </a:lvl7pPr>
            <a:lvl8pPr algn="l">
              <a:buNone/>
              <a:defRPr sz="1650" b="0">
                <a:solidFill>
                  <a:srgbClr val="243746"/>
                </a:solidFill>
              </a:defRPr>
            </a:lvl8pPr>
            <a:lvl9pPr algn="l">
              <a:buNone/>
              <a:defRPr sz="1650" b="0">
                <a:solidFill>
                  <a:srgbClr val="243746"/>
                </a:solidFill>
              </a:defRPr>
            </a:lvl9pPr>
          </a:lstStyle>
          <a:p xmlns:a="http://schemas.openxmlformats.org/drawingml/2006/main">
            <a:pPr algn="l">
              <a:buNone/>
              <a:defRPr sz="1650" b="0">
                <a:solidFill>
                  <a:srgbClr val="243746"/>
                </a:solidFill>
              </a:defRPr>
            </a:pPr>
            <a:r>
              <a:rPr sz="1650" b="0">
                <a:solidFill>
                  <a:srgbClr val="243746"/>
                </a:solidFill>
              </a:rPr>
              <a:t>Provide monthly uses for the $500K, loan and transfer terms, and measurable steps to reach break-even.</a:t>
            </a:r>
          </a:p>
        </p:txBody>
      </p:sp>
      <p:sp>
        <p:nvSpPr>
          <p:cNvPr id="8" name="gate-3-label">
            <a:extLst xmlns:a="http://schemas.openxmlformats.org/drawingml/2006/main">
              <a:ext uri="{FF2B5EF4-FFF2-40B4-BE49-F238E27FC236}">
                <a16:creationId xmlns:a16="http://schemas.microsoft.com/office/drawing/2014/main" id="{723F0314-7C32-425B-BC1E-2F6EDF4DD974}"/>
              </a:ext>
            </a:extLst>
          </p:cNvPr>
          <p:cNvSpPr>
            <a:spLocks xmlns:a="http://schemas.openxmlformats.org/drawingml/2006/main" noGrp="1"/>
          </p:cNvSpPr>
          <p:nvPr/>
        </p:nvSpPr>
        <p:spPr>
          <a:xfrm xmlns:a="http://schemas.openxmlformats.org/drawingml/2006/main">
            <a:off x="762000" y="40957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7A72"/>
                </a:solidFill>
              </a:defRPr>
            </a:defPPr>
            <a:lvl1pPr algn="l">
              <a:buNone/>
              <a:defRPr sz="1725" b="1">
                <a:solidFill>
                  <a:srgbClr val="157A72"/>
                </a:solidFill>
              </a:defRPr>
            </a:lvl1pPr>
            <a:lvl2pPr algn="l">
              <a:buNone/>
              <a:defRPr sz="1725" b="1">
                <a:solidFill>
                  <a:srgbClr val="157A72"/>
                </a:solidFill>
              </a:defRPr>
            </a:lvl2pPr>
            <a:lvl3pPr algn="l">
              <a:buNone/>
              <a:defRPr sz="1725" b="1">
                <a:solidFill>
                  <a:srgbClr val="157A72"/>
                </a:solidFill>
              </a:defRPr>
            </a:lvl3pPr>
            <a:lvl4pPr algn="l">
              <a:buNone/>
              <a:defRPr sz="1725" b="1">
                <a:solidFill>
                  <a:srgbClr val="157A72"/>
                </a:solidFill>
              </a:defRPr>
            </a:lvl4pPr>
            <a:lvl5pPr algn="l">
              <a:buNone/>
              <a:defRPr sz="1725" b="1">
                <a:solidFill>
                  <a:srgbClr val="157A72"/>
                </a:solidFill>
              </a:defRPr>
            </a:lvl5pPr>
            <a:lvl6pPr algn="l">
              <a:buNone/>
              <a:defRPr sz="1725" b="1">
                <a:solidFill>
                  <a:srgbClr val="157A72"/>
                </a:solidFill>
              </a:defRPr>
            </a:lvl6pPr>
            <a:lvl7pPr algn="l">
              <a:buNone/>
              <a:defRPr sz="1725" b="1">
                <a:solidFill>
                  <a:srgbClr val="157A72"/>
                </a:solidFill>
              </a:defRPr>
            </a:lvl7pPr>
            <a:lvl8pPr algn="l">
              <a:buNone/>
              <a:defRPr sz="1725" b="1">
                <a:solidFill>
                  <a:srgbClr val="157A72"/>
                </a:solidFill>
              </a:defRPr>
            </a:lvl8pPr>
            <a:lvl9pPr algn="l">
              <a:buNone/>
              <a:defRPr sz="1725" b="1">
                <a:solidFill>
                  <a:srgbClr val="157A72"/>
                </a:solidFill>
              </a:defRPr>
            </a:lvl9pPr>
          </a:lstStyle>
          <a:p xmlns:a="http://schemas.openxmlformats.org/drawingml/2006/main">
            <a:pPr algn="l">
              <a:buNone/>
              <a:defRPr sz="1725" b="1">
                <a:solidFill>
                  <a:srgbClr val="157A72"/>
                </a:solidFill>
              </a:defRPr>
            </a:pPr>
            <a:r>
              <a:rPr sz="1725" b="1">
                <a:solidFill>
                  <a:srgbClr val="157A72"/>
                </a:solidFill>
              </a:rPr>
              <a:t>3  Customer evidence</a:t>
            </a:r>
          </a:p>
        </p:txBody>
      </p:sp>
      <p:sp>
        <p:nvSpPr>
          <p:cNvPr id="9" name="gate-3">
            <a:extLst xmlns:a="http://schemas.openxmlformats.org/drawingml/2006/main">
              <a:ext uri="{FF2B5EF4-FFF2-40B4-BE49-F238E27FC236}">
                <a16:creationId xmlns:a16="http://schemas.microsoft.com/office/drawing/2014/main" id="{2D338493-582F-440F-8C01-808627CFB751}"/>
              </a:ext>
            </a:extLst>
          </p:cNvPr>
          <p:cNvSpPr>
            <a:spLocks xmlns:a="http://schemas.openxmlformats.org/drawingml/2006/main" noGrp="1"/>
          </p:cNvSpPr>
          <p:nvPr/>
        </p:nvSpPr>
        <p:spPr>
          <a:xfrm xmlns:a="http://schemas.openxmlformats.org/drawingml/2006/main">
            <a:off x="762000" y="447675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243746"/>
                </a:solidFill>
              </a:defRPr>
            </a:defPPr>
            <a:lvl1pPr algn="l">
              <a:buNone/>
              <a:defRPr sz="1650" b="0">
                <a:solidFill>
                  <a:srgbClr val="243746"/>
                </a:solidFill>
              </a:defRPr>
            </a:lvl1pPr>
            <a:lvl2pPr algn="l">
              <a:buNone/>
              <a:defRPr sz="1650" b="0">
                <a:solidFill>
                  <a:srgbClr val="243746"/>
                </a:solidFill>
              </a:defRPr>
            </a:lvl2pPr>
            <a:lvl3pPr algn="l">
              <a:buNone/>
              <a:defRPr sz="1650" b="0">
                <a:solidFill>
                  <a:srgbClr val="243746"/>
                </a:solidFill>
              </a:defRPr>
            </a:lvl3pPr>
            <a:lvl4pPr algn="l">
              <a:buNone/>
              <a:defRPr sz="1650" b="0">
                <a:solidFill>
                  <a:srgbClr val="243746"/>
                </a:solidFill>
              </a:defRPr>
            </a:lvl4pPr>
            <a:lvl5pPr algn="l">
              <a:buNone/>
              <a:defRPr sz="1650" b="0">
                <a:solidFill>
                  <a:srgbClr val="243746"/>
                </a:solidFill>
              </a:defRPr>
            </a:lvl5pPr>
            <a:lvl6pPr algn="l">
              <a:buNone/>
              <a:defRPr sz="1650" b="0">
                <a:solidFill>
                  <a:srgbClr val="243746"/>
                </a:solidFill>
              </a:defRPr>
            </a:lvl6pPr>
            <a:lvl7pPr algn="l">
              <a:buNone/>
              <a:defRPr sz="1650" b="0">
                <a:solidFill>
                  <a:srgbClr val="243746"/>
                </a:solidFill>
              </a:defRPr>
            </a:lvl7pPr>
            <a:lvl8pPr algn="l">
              <a:buNone/>
              <a:defRPr sz="1650" b="0">
                <a:solidFill>
                  <a:srgbClr val="243746"/>
                </a:solidFill>
              </a:defRPr>
            </a:lvl8pPr>
            <a:lvl9pPr algn="l">
              <a:buNone/>
              <a:defRPr sz="1650" b="0">
                <a:solidFill>
                  <a:srgbClr val="243746"/>
                </a:solidFill>
              </a:defRPr>
            </a:lvl9pPr>
          </a:lstStyle>
          <a:p xmlns:a="http://schemas.openxmlformats.org/drawingml/2006/main">
            <a:pPr algn="l">
              <a:buNone/>
              <a:defRPr sz="1650" b="0">
                <a:solidFill>
                  <a:srgbClr val="243746"/>
                </a:solidFill>
              </a:defRPr>
            </a:pPr>
            <a:r>
              <a:rPr sz="1650" b="0">
                <a:solidFill>
                  <a:srgbClr val="243746"/>
                </a:solidFill>
              </a:rPr>
              <a:t>December 2025 invoices show 1,100 customer names; they cannot verify 4,000 active customers at the April pitch. Five businesses made up 66.7% of adjusted billings. Household billings fell 26.2%.</a:t>
            </a:r>
          </a:p>
        </p:txBody>
      </p:sp>
      <p:sp>
        <p:nvSpPr>
          <p:cNvPr id="10" name="positive-note-label">
            <a:extLst xmlns:a="http://schemas.openxmlformats.org/drawingml/2006/main">
              <a:ext uri="{FF2B5EF4-FFF2-40B4-BE49-F238E27FC236}">
                <a16:creationId xmlns:a16="http://schemas.microsoft.com/office/drawing/2014/main" id="{C5529D7A-E0B9-48C2-83B6-B6DB5CC23491}"/>
              </a:ext>
            </a:extLst>
          </p:cNvPr>
          <p:cNvSpPr>
            <a:spLocks xmlns:a="http://schemas.openxmlformats.org/drawingml/2006/main" noGrp="1"/>
          </p:cNvSpPr>
          <p:nvPr/>
        </p:nvSpPr>
        <p:spPr>
          <a:xfrm xmlns:a="http://schemas.openxmlformats.org/drawingml/2006/main">
            <a:off x="6286500" y="40957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334A"/>
                </a:solidFill>
              </a:defRPr>
            </a:defPPr>
            <a:lvl1pPr algn="l">
              <a:buNone/>
              <a:defRPr sz="1725" b="1">
                <a:solidFill>
                  <a:srgbClr val="15334A"/>
                </a:solidFill>
              </a:defRPr>
            </a:lvl1pPr>
            <a:lvl2pPr algn="l">
              <a:buNone/>
              <a:defRPr sz="1725" b="1">
                <a:solidFill>
                  <a:srgbClr val="15334A"/>
                </a:solidFill>
              </a:defRPr>
            </a:lvl2pPr>
            <a:lvl3pPr algn="l">
              <a:buNone/>
              <a:defRPr sz="1725" b="1">
                <a:solidFill>
                  <a:srgbClr val="15334A"/>
                </a:solidFill>
              </a:defRPr>
            </a:lvl3pPr>
            <a:lvl4pPr algn="l">
              <a:buNone/>
              <a:defRPr sz="1725" b="1">
                <a:solidFill>
                  <a:srgbClr val="15334A"/>
                </a:solidFill>
              </a:defRPr>
            </a:lvl4pPr>
            <a:lvl5pPr algn="l">
              <a:buNone/>
              <a:defRPr sz="1725" b="1">
                <a:solidFill>
                  <a:srgbClr val="15334A"/>
                </a:solidFill>
              </a:defRPr>
            </a:lvl5pPr>
            <a:lvl6pPr algn="l">
              <a:buNone/>
              <a:defRPr sz="1725" b="1">
                <a:solidFill>
                  <a:srgbClr val="15334A"/>
                </a:solidFill>
              </a:defRPr>
            </a:lvl6pPr>
            <a:lvl7pPr algn="l">
              <a:buNone/>
              <a:defRPr sz="1725" b="1">
                <a:solidFill>
                  <a:srgbClr val="15334A"/>
                </a:solidFill>
              </a:defRPr>
            </a:lvl7pPr>
            <a:lvl8pPr algn="l">
              <a:buNone/>
              <a:defRPr sz="1725" b="1">
                <a:solidFill>
                  <a:srgbClr val="15334A"/>
                </a:solidFill>
              </a:defRPr>
            </a:lvl8pPr>
            <a:lvl9pPr algn="l">
              <a:buNone/>
              <a:defRPr sz="1725" b="1">
                <a:solidFill>
                  <a:srgbClr val="15334A"/>
                </a:solidFill>
              </a:defRPr>
            </a:lvl9pPr>
          </a:lstStyle>
          <a:p xmlns:a="http://schemas.openxmlformats.org/drawingml/2006/main">
            <a:pPr algn="l">
              <a:buNone/>
              <a:defRPr sz="1725" b="1">
                <a:solidFill>
                  <a:srgbClr val="15334A"/>
                </a:solidFill>
              </a:defRPr>
            </a:pPr>
            <a:r>
              <a:rPr sz="1725" b="1">
                <a:solidFill>
                  <a:srgbClr val="15334A"/>
                </a:solidFill>
              </a:rPr>
              <a:t>Annual invoice retention</a:t>
            </a:r>
          </a:p>
        </p:txBody>
      </p:sp>
      <p:sp>
        <p:nvSpPr>
          <p:cNvPr id="11" name="positive-note">
            <a:extLst xmlns:a="http://schemas.openxmlformats.org/drawingml/2006/main">
              <a:ext uri="{FF2B5EF4-FFF2-40B4-BE49-F238E27FC236}">
                <a16:creationId xmlns:a16="http://schemas.microsoft.com/office/drawing/2014/main" id="{945080D0-6A59-4ED9-9135-EF54DDE865C8}"/>
              </a:ext>
            </a:extLst>
          </p:cNvPr>
          <p:cNvSpPr>
            <a:spLocks xmlns:a="http://schemas.openxmlformats.org/drawingml/2006/main" noGrp="1"/>
          </p:cNvSpPr>
          <p:nvPr/>
        </p:nvSpPr>
        <p:spPr>
          <a:xfrm xmlns:a="http://schemas.openxmlformats.org/drawingml/2006/main">
            <a:off x="6286500" y="44767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243746"/>
                </a:solidFill>
              </a:defRPr>
            </a:defPPr>
            <a:lvl1pPr algn="l">
              <a:buNone/>
              <a:defRPr sz="1650" b="0">
                <a:solidFill>
                  <a:srgbClr val="243746"/>
                </a:solidFill>
              </a:defRPr>
            </a:lvl1pPr>
            <a:lvl2pPr algn="l">
              <a:buNone/>
              <a:defRPr sz="1650" b="0">
                <a:solidFill>
                  <a:srgbClr val="243746"/>
                </a:solidFill>
              </a:defRPr>
            </a:lvl2pPr>
            <a:lvl3pPr algn="l">
              <a:buNone/>
              <a:defRPr sz="1650" b="0">
                <a:solidFill>
                  <a:srgbClr val="243746"/>
                </a:solidFill>
              </a:defRPr>
            </a:lvl3pPr>
            <a:lvl4pPr algn="l">
              <a:buNone/>
              <a:defRPr sz="1650" b="0">
                <a:solidFill>
                  <a:srgbClr val="243746"/>
                </a:solidFill>
              </a:defRPr>
            </a:lvl4pPr>
            <a:lvl5pPr algn="l">
              <a:buNone/>
              <a:defRPr sz="1650" b="0">
                <a:solidFill>
                  <a:srgbClr val="243746"/>
                </a:solidFill>
              </a:defRPr>
            </a:lvl5pPr>
            <a:lvl6pPr algn="l">
              <a:buNone/>
              <a:defRPr sz="1650" b="0">
                <a:solidFill>
                  <a:srgbClr val="243746"/>
                </a:solidFill>
              </a:defRPr>
            </a:lvl6pPr>
            <a:lvl7pPr algn="l">
              <a:buNone/>
              <a:defRPr sz="1650" b="0">
                <a:solidFill>
                  <a:srgbClr val="243746"/>
                </a:solidFill>
              </a:defRPr>
            </a:lvl7pPr>
            <a:lvl8pPr algn="l">
              <a:buNone/>
              <a:defRPr sz="1650" b="0">
                <a:solidFill>
                  <a:srgbClr val="243746"/>
                </a:solidFill>
              </a:defRPr>
            </a:lvl8pPr>
            <a:lvl9pPr algn="l">
              <a:buNone/>
              <a:defRPr sz="1650" b="0">
                <a:solidFill>
                  <a:srgbClr val="243746"/>
                </a:solidFill>
              </a:defRPr>
            </a:lvl9pPr>
          </a:lstStyle>
          <a:p xmlns:a="http://schemas.openxmlformats.org/drawingml/2006/main">
            <a:pPr algn="l">
              <a:buNone/>
              <a:defRPr sz="1650" b="0">
                <a:solidFill>
                  <a:srgbClr val="243746"/>
                </a:solidFill>
              </a:defRPr>
            </a:pPr>
            <a:r>
              <a:rPr sz="1650" b="0">
                <a:solidFill>
                  <a:srgbClr val="243746"/>
                </a:solidFill>
              </a:rPr>
              <a:t>All 600 accounts invoiced in 2024 also invoiced in 2025. This 100% annual measure does not establish frequent ordering or current engagement.</a:t>
            </a:r>
          </a:p>
        </p:txBody>
      </p:sp>
      <p:sp>
        <p:nvSpPr>
          <p:cNvPr id="12" name="source-footer">
            <a:extLst xmlns:a="http://schemas.openxmlformats.org/drawingml/2006/main">
              <a:ext uri="{FF2B5EF4-FFF2-40B4-BE49-F238E27FC236}">
                <a16:creationId xmlns:a16="http://schemas.microsoft.com/office/drawing/2014/main" id="{09DC4504-7A28-4183-82FE-1ACF1C74B8EC}"/>
              </a:ext>
            </a:extLst>
          </p:cNvPr>
          <p:cNvSpPr>
            <a:spLocks xmlns:a="http://schemas.openxmlformats.org/drawingml/2006/main" noGrp="1"/>
          </p:cNvSpPr>
          <p:nvPr/>
        </p:nvSpPr>
        <p:spPr>
          <a:xfrm xmlns:a="http://schemas.openxmlformats.org/drawingml/2006/main">
            <a:off x="685800" y="6419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26676"/>
                </a:solidFill>
              </a:defRPr>
            </a:defPPr>
            <a:lvl1pPr algn="l">
              <a:buNone/>
              <a:defRPr sz="1125" b="0">
                <a:solidFill>
                  <a:srgbClr val="526676"/>
                </a:solidFill>
              </a:defRPr>
            </a:lvl1pPr>
            <a:lvl2pPr algn="l">
              <a:buNone/>
              <a:defRPr sz="1125" b="0">
                <a:solidFill>
                  <a:srgbClr val="526676"/>
                </a:solidFill>
              </a:defRPr>
            </a:lvl2pPr>
            <a:lvl3pPr algn="l">
              <a:buNone/>
              <a:defRPr sz="1125" b="0">
                <a:solidFill>
                  <a:srgbClr val="526676"/>
                </a:solidFill>
              </a:defRPr>
            </a:lvl3pPr>
            <a:lvl4pPr algn="l">
              <a:buNone/>
              <a:defRPr sz="1125" b="0">
                <a:solidFill>
                  <a:srgbClr val="526676"/>
                </a:solidFill>
              </a:defRPr>
            </a:lvl4pPr>
            <a:lvl5pPr algn="l">
              <a:buNone/>
              <a:defRPr sz="1125" b="0">
                <a:solidFill>
                  <a:srgbClr val="526676"/>
                </a:solidFill>
              </a:defRPr>
            </a:lvl5pPr>
            <a:lvl6pPr algn="l">
              <a:buNone/>
              <a:defRPr sz="1125" b="0">
                <a:solidFill>
                  <a:srgbClr val="526676"/>
                </a:solidFill>
              </a:defRPr>
            </a:lvl6pPr>
            <a:lvl7pPr algn="l">
              <a:buNone/>
              <a:defRPr sz="1125" b="0">
                <a:solidFill>
                  <a:srgbClr val="526676"/>
                </a:solidFill>
              </a:defRPr>
            </a:lvl7pPr>
            <a:lvl8pPr algn="l">
              <a:buNone/>
              <a:defRPr sz="1125" b="0">
                <a:solidFill>
                  <a:srgbClr val="526676"/>
                </a:solidFill>
              </a:defRPr>
            </a:lvl8pPr>
            <a:lvl9pPr algn="l">
              <a:buNone/>
              <a:defRPr sz="1125" b="0">
                <a:solidFill>
                  <a:srgbClr val="526676"/>
                </a:solidFill>
              </a:defRPr>
            </a:lvl9pPr>
          </a:lstStyle>
          <a:p xmlns:a="http://schemas.openxmlformats.org/drawingml/2006/main">
            <a:pPr algn="l">
              <a:buNone/>
              <a:defRPr sz="1125" b="0">
                <a:solidFill>
                  <a:srgbClr val="526676"/>
                </a:solidFill>
              </a:defRPr>
            </a:pPr>
            <a:r>
              <a:rPr sz="1125" b="0">
                <a:solidFill>
                  <a:srgbClr val="526676"/>
                </a:solidFill>
              </a:rPr>
              <a:t>Annual invoicing does not prove current activity. The data do not establish fraud.</a:t>
            </a:r>
          </a:p>
        </p:txBody>
      </p:sp>
    </p:spTree>
    <p:extLst>
      <p:ext uri="{BB962C8B-B14F-4D97-AF65-F5344CB8AC3E}">
        <p14:creationId xmlns:p14="http://schemas.microsoft.com/office/powerpoint/2010/main" val="213152602"/>
      </p:ext>
    </p:extLst>
  </p:cSld>
</p:sld>
</file>

<file path=ppt/theme/theme1.xml><?xml version="1.0" encoding="utf-8"?>
<a:theme xmlns:a="http://schemas.openxmlformats.org/drawingml/2006/main" name="ChatGPT">
  <a:themeElements>
    <a:clrScheme name="NovaCart Review">
      <a:dk1>
        <a:srgbClr val="000000"/>
      </a:dk1>
      <a:lt1>
        <a:srgbClr val="FFFFFF"/>
      </a:lt1>
      <a:dk2>
        <a:srgbClr val="15334A"/>
      </a:dk2>
      <a:lt2>
        <a:srgbClr val="D6DEE3"/>
      </a:lt2>
      <a:accent1>
        <a:srgbClr val="157A72"/>
      </a:accent1>
      <a:accent2>
        <a:srgbClr val="15334A"/>
      </a:accent2>
      <a:accent3>
        <a:srgbClr val="B7533E"/>
      </a:accent3>
      <a:accent4>
        <a:srgbClr val="778A97"/>
      </a:accent4>
      <a:accent5>
        <a:srgbClr val="AEC3C9"/>
      </a:accent5>
      <a:accent6>
        <a:srgbClr val="6F9E91"/>
      </a:accent6>
      <a:hlink>
        <a:srgbClr val="157A72"/>
      </a:hlink>
      <a:folHlink>
        <a:srgbClr val="15334A"/>
      </a:folHlink>
    </a:clrScheme>
    <a:fontScheme name="">
      <a:majorFont>
        <a:latin typeface="Arial"/>
        <a:ea typeface=""/>
        <a:cs typeface=""/>
      </a:majorFont>
      <a:minorFont>
        <a:latin typeface="Arial"/>
        <a:ea typeface=""/>
        <a:cs typeface=""/>
      </a:minorFont>
    </a:fontScheme>
    <a:fmtScheme name="NovaCart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2026-10-22T23:51:15.9780000Z</dcterms:created>
  <dcterms:modified xsi:type="dcterms:W3CDTF">2026-10-22T23:51:15.9780000Z</dcterms:modified>
</coreProperties>
</file>